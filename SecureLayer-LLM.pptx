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7" r:id="rId10"/>
    <p:sldId id="272" r:id="rId11"/>
    <p:sldId id="273" r:id="rId12"/>
    <p:sldId id="269" r:id="rId13"/>
    <p:sldId id="270" r:id="rId14"/>
    <p:sldId id="271" r:id="rId15"/>
  </p:sldIdLst>
  <p:sldSz cx="18288000" cy="10287000"/>
  <p:notesSz cx="6858000" cy="9144000"/>
  <p:embeddedFontLst>
    <p:embeddedFont>
      <p:font typeface="Canva Sans" panose="020B0604020202020204" charset="0"/>
      <p:regular r:id="rId17"/>
    </p:embeddedFont>
    <p:embeddedFont>
      <p:font typeface="Canva Sans Bold" panose="020B0604020202020204" charset="0"/>
      <p:regular r:id="rId18"/>
    </p:embeddedFont>
    <p:embeddedFont>
      <p:font typeface="DM Sans" pitchFamily="2" charset="0"/>
      <p:regular r:id="rId19"/>
      <p:bold r:id="rId20"/>
      <p:italic r:id="rId21"/>
      <p:boldItalic r:id="rId22"/>
    </p:embeddedFont>
    <p:embeddedFont>
      <p:font typeface="Roca Two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2157FC-48B0-470E-A622-577C42541042}">
          <p14:sldIdLst>
            <p14:sldId id="256"/>
            <p14:sldId id="257"/>
            <p14:sldId id="258"/>
            <p14:sldId id="259"/>
            <p14:sldId id="260"/>
            <p14:sldId id="261"/>
            <p14:sldId id="262"/>
            <p14:sldId id="263"/>
            <p14:sldId id="267"/>
            <p14:sldId id="272"/>
            <p14:sldId id="273"/>
            <p14:sldId id="269"/>
            <p14:sldId id="270"/>
            <p14:sldId id="27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varScale="1">
        <p:scale>
          <a:sx n="55" d="100"/>
          <a:sy n="55" d="100"/>
        </p:scale>
        <p:origin x="65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35FCD8-0248-4946-A450-DFE78519F7F8}" type="datetimeFigureOut">
              <a:rPr lang="en-IN" smtClean="0"/>
              <a:t>28-02-2026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F5C29C-D9A9-4D9E-8679-8F1F78DCDB54}" type="slidenum">
              <a:rPr lang="en-IN" smtClean="0"/>
              <a:t>‹#›</a:t>
            </a:fld>
            <a:endParaRPr lang="en-IN"/>
          </a:p>
        </p:txBody>
      </p:sp>
    </p:spTree>
    <p:extLst>
      <p:ext uri="{BB962C8B-B14F-4D97-AF65-F5344CB8AC3E}">
        <p14:creationId xmlns:p14="http://schemas.microsoft.com/office/powerpoint/2010/main" val="4143036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3F5C29C-D9A9-4D9E-8679-8F1F78DCDB54}" type="slidenum">
              <a:rPr lang="en-IN" smtClean="0"/>
              <a:t>4</a:t>
            </a:fld>
            <a:endParaRPr lang="en-IN"/>
          </a:p>
        </p:txBody>
      </p:sp>
    </p:spTree>
    <p:extLst>
      <p:ext uri="{BB962C8B-B14F-4D97-AF65-F5344CB8AC3E}">
        <p14:creationId xmlns:p14="http://schemas.microsoft.com/office/powerpoint/2010/main" val="331238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www.emergentmind.com/papers/2409.08087?utm_source=chatgpt.com" TargetMode="External"/><Relationship Id="rId3" Type="http://schemas.openxmlformats.org/officeDocument/2006/relationships/image" Target="../media/image2.jpeg"/><Relationship Id="rId7" Type="http://schemas.openxmlformats.org/officeDocument/2006/relationships/hyperlink" Target="https://arxiv.org/abs/2410.23308?utm_source=chatgpt.com"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arxiv.org/abs/2509.14271?utm_source=chatgpt.com" TargetMode="External"/><Relationship Id="rId5" Type="http://schemas.openxmlformats.org/officeDocument/2006/relationships/hyperlink" Target="https://arxiv.org/abs/2509.14285?utm_source=chatgpt.com" TargetMode="External"/><Relationship Id="rId10" Type="http://schemas.openxmlformats.org/officeDocument/2006/relationships/hyperlink" Target="https://owasp.org/www-community/attacks/PromptInjection?utm_source=chatgpt.com" TargetMode="External"/><Relationship Id="rId4" Type="http://schemas.openxmlformats.org/officeDocument/2006/relationships/hyperlink" Target="https://arxiv.org/abs/2601.04666?utm_source=chatgpt.com" TargetMode="External"/><Relationship Id="rId9" Type="http://schemas.openxmlformats.org/officeDocument/2006/relationships/hyperlink" Target="https://www.preprints.org/manuscript/202511.0088?utm_source=chatgpt.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3664" y="319203"/>
            <a:ext cx="16960691" cy="1805344"/>
          </a:xfrm>
          <a:custGeom>
            <a:avLst/>
            <a:gdLst/>
            <a:ahLst/>
            <a:cxnLst/>
            <a:rect l="l" t="t" r="r" b="b"/>
            <a:pathLst>
              <a:path w="16960691" h="1870281">
                <a:moveTo>
                  <a:pt x="0" y="0"/>
                </a:moveTo>
                <a:lnTo>
                  <a:pt x="16960691" y="0"/>
                </a:lnTo>
                <a:lnTo>
                  <a:pt x="16960691" y="1870281"/>
                </a:lnTo>
                <a:lnTo>
                  <a:pt x="0" y="1870281"/>
                </a:lnTo>
                <a:lnTo>
                  <a:pt x="0" y="0"/>
                </a:lnTo>
                <a:close/>
              </a:path>
            </a:pathLst>
          </a:custGeom>
          <a:blipFill>
            <a:blip r:embed="rId2"/>
            <a:stretch>
              <a:fillRect t="-6678" r="-19" b="-660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Freeform 4"/>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4"/>
            <a:stretch>
              <a:fillRect t="-328416" b="-328223"/>
            </a:stretch>
          </a:blipFill>
        </p:spPr>
      </p:sp>
      <p:sp>
        <p:nvSpPr>
          <p:cNvPr id="5" name="TextBox 5"/>
          <p:cNvSpPr txBox="1"/>
          <p:nvPr/>
        </p:nvSpPr>
        <p:spPr>
          <a:xfrm>
            <a:off x="3370483" y="2683610"/>
            <a:ext cx="11336117" cy="2721771"/>
          </a:xfrm>
          <a:prstGeom prst="rect">
            <a:avLst/>
          </a:prstGeom>
        </p:spPr>
        <p:txBody>
          <a:bodyPr wrap="square" lIns="0" tIns="0" rIns="0" bIns="0" rtlCol="0" anchor="t">
            <a:spAutoFit/>
          </a:bodyPr>
          <a:lstStyle/>
          <a:p>
            <a:pPr algn="ctr">
              <a:lnSpc>
                <a:spcPts val="4273"/>
              </a:lnSpc>
            </a:pPr>
            <a:r>
              <a:rPr lang="en-US" sz="3096" b="1" dirty="0">
                <a:solidFill>
                  <a:srgbClr val="000000"/>
                </a:solidFill>
                <a:latin typeface="Canva Sans Bold"/>
                <a:ea typeface="Canva Sans Bold"/>
                <a:cs typeface="Canva Sans Bold"/>
                <a:sym typeface="Canva Sans Bold"/>
              </a:rPr>
              <a:t>DEPARTMENT OF COMPUTER SCIENCE AND ENGINEERING (CYBER SECURITY)</a:t>
            </a:r>
          </a:p>
          <a:p>
            <a:pPr algn="ctr">
              <a:lnSpc>
                <a:spcPts val="4273"/>
              </a:lnSpc>
            </a:pPr>
            <a:r>
              <a:rPr lang="en-US" sz="3096" b="1" dirty="0">
                <a:solidFill>
                  <a:srgbClr val="000000"/>
                </a:solidFill>
                <a:latin typeface="Canva Sans Bold"/>
                <a:ea typeface="Canva Sans Bold"/>
                <a:cs typeface="Canva Sans Bold"/>
                <a:sym typeface="Canva Sans Bold"/>
              </a:rPr>
              <a:t> 21CY411- ENGINEERING EXPLORATION  IV</a:t>
            </a:r>
          </a:p>
          <a:p>
            <a:pPr algn="ctr">
              <a:lnSpc>
                <a:spcPts val="4273"/>
              </a:lnSpc>
            </a:pPr>
            <a:r>
              <a:rPr lang="en-US" sz="3096" b="1" dirty="0">
                <a:solidFill>
                  <a:srgbClr val="000000"/>
                </a:solidFill>
                <a:latin typeface="Canva Sans Bold"/>
                <a:ea typeface="Canva Sans Bold"/>
                <a:cs typeface="Canva Sans Bold"/>
                <a:sym typeface="Canva Sans Bold"/>
              </a:rPr>
              <a:t>TITLE : SECURE LAYER WITH LLM</a:t>
            </a:r>
          </a:p>
          <a:p>
            <a:pPr algn="ctr">
              <a:lnSpc>
                <a:spcPts val="4273"/>
              </a:lnSpc>
            </a:pPr>
            <a:r>
              <a:rPr lang="en-US" sz="3096" b="1" dirty="0">
                <a:solidFill>
                  <a:srgbClr val="000000"/>
                </a:solidFill>
                <a:latin typeface="Canva Sans Bold"/>
                <a:ea typeface="Canva Sans Bold"/>
                <a:cs typeface="Canva Sans Bold"/>
                <a:sym typeface="Canva Sans Bold"/>
              </a:rPr>
              <a:t>DOMAIN :CYBER SECURITY</a:t>
            </a:r>
          </a:p>
        </p:txBody>
      </p:sp>
      <p:sp>
        <p:nvSpPr>
          <p:cNvPr id="6" name="TextBox 6"/>
          <p:cNvSpPr txBox="1"/>
          <p:nvPr/>
        </p:nvSpPr>
        <p:spPr>
          <a:xfrm>
            <a:off x="1225163" y="6921179"/>
            <a:ext cx="4290641" cy="2130520"/>
          </a:xfrm>
          <a:prstGeom prst="rect">
            <a:avLst/>
          </a:prstGeom>
        </p:spPr>
        <p:txBody>
          <a:bodyPr lIns="0" tIns="0" rIns="0" bIns="0" rtlCol="0" anchor="t">
            <a:spAutoFit/>
          </a:bodyPr>
          <a:lstStyle/>
          <a:p>
            <a:pPr algn="l">
              <a:lnSpc>
                <a:spcPts val="4200"/>
              </a:lnSpc>
            </a:pPr>
            <a:r>
              <a:rPr lang="en-US" sz="3023" dirty="0">
                <a:solidFill>
                  <a:srgbClr val="000000"/>
                </a:solidFill>
                <a:latin typeface="DM Sans"/>
                <a:ea typeface="DM Sans"/>
                <a:cs typeface="DM Sans"/>
                <a:sym typeface="DM Sans"/>
              </a:rPr>
              <a:t>GUIDED BY, </a:t>
            </a:r>
          </a:p>
          <a:p>
            <a:pPr algn="l">
              <a:lnSpc>
                <a:spcPts val="4200"/>
              </a:lnSpc>
            </a:pPr>
            <a:r>
              <a:rPr lang="en-US" sz="3023" dirty="0" err="1">
                <a:solidFill>
                  <a:srgbClr val="000000"/>
                </a:solidFill>
                <a:latin typeface="DM Sans"/>
                <a:ea typeface="DM Sans"/>
                <a:cs typeface="DM Sans"/>
                <a:sym typeface="DM Sans"/>
              </a:rPr>
              <a:t>Ms.K.SABITHA</a:t>
            </a:r>
            <a:endParaRPr lang="en-US" sz="3023" dirty="0">
              <a:solidFill>
                <a:srgbClr val="000000"/>
              </a:solidFill>
              <a:latin typeface="DM Sans"/>
              <a:ea typeface="DM Sans"/>
              <a:cs typeface="DM Sans"/>
              <a:sym typeface="DM Sans"/>
            </a:endParaRPr>
          </a:p>
          <a:p>
            <a:pPr algn="l">
              <a:lnSpc>
                <a:spcPts val="4200"/>
              </a:lnSpc>
            </a:pPr>
            <a:r>
              <a:rPr lang="en-US" sz="3023" dirty="0">
                <a:solidFill>
                  <a:srgbClr val="000000"/>
                </a:solidFill>
                <a:latin typeface="DM Sans"/>
                <a:ea typeface="DM Sans"/>
                <a:cs typeface="DM Sans"/>
                <a:sym typeface="DM Sans"/>
              </a:rPr>
              <a:t>ASSISTANT PROFESSOR</a:t>
            </a:r>
          </a:p>
          <a:p>
            <a:pPr algn="l">
              <a:lnSpc>
                <a:spcPts val="4200"/>
              </a:lnSpc>
            </a:pPr>
            <a:r>
              <a:rPr lang="en-US" sz="3023" dirty="0">
                <a:solidFill>
                  <a:srgbClr val="000000"/>
                </a:solidFill>
                <a:latin typeface="DM Sans"/>
                <a:ea typeface="DM Sans"/>
                <a:cs typeface="DM Sans"/>
                <a:sym typeface="DM Sans"/>
              </a:rPr>
              <a:t> </a:t>
            </a:r>
          </a:p>
        </p:txBody>
      </p:sp>
      <p:sp>
        <p:nvSpPr>
          <p:cNvPr id="7" name="TextBox 7"/>
          <p:cNvSpPr txBox="1"/>
          <p:nvPr/>
        </p:nvSpPr>
        <p:spPr>
          <a:xfrm>
            <a:off x="11887200" y="6675866"/>
            <a:ext cx="6052680" cy="2337050"/>
          </a:xfrm>
          <a:prstGeom prst="rect">
            <a:avLst/>
          </a:prstGeom>
        </p:spPr>
        <p:txBody>
          <a:bodyPr wrap="square" lIns="0" tIns="0" rIns="0" bIns="0" rtlCol="0" anchor="t">
            <a:spAutoFit/>
          </a:bodyPr>
          <a:lstStyle/>
          <a:p>
            <a:pPr algn="l">
              <a:lnSpc>
                <a:spcPts val="3674"/>
              </a:lnSpc>
            </a:pPr>
            <a:r>
              <a:rPr lang="en-US" sz="2514" spc="118" dirty="0">
                <a:solidFill>
                  <a:srgbClr val="000000"/>
                </a:solidFill>
                <a:latin typeface="Canva Sans"/>
                <a:ea typeface="Canva Sans"/>
                <a:cs typeface="Canva Sans"/>
                <a:sym typeface="Canva Sans"/>
              </a:rPr>
              <a:t>PRESENTED BY, TEAM NUMBER : 13 DHARSHINI L(714024149025) KADHIRAVAN EG(714024149048) DHARSNI S(714024149027) HANUSHREE L(714024149032)</a:t>
            </a:r>
          </a:p>
        </p:txBody>
      </p:sp>
      <p:sp>
        <p:nvSpPr>
          <p:cNvPr id="8" name="TextBox 8"/>
          <p:cNvSpPr txBox="1"/>
          <p:nvPr/>
        </p:nvSpPr>
        <p:spPr>
          <a:xfrm>
            <a:off x="4235067" y="9675385"/>
            <a:ext cx="9817865" cy="449932"/>
          </a:xfrm>
          <a:prstGeom prst="rect">
            <a:avLst/>
          </a:prstGeom>
        </p:spPr>
        <p:txBody>
          <a:bodyPr lIns="0" tIns="0" rIns="0" bIns="0" rtlCol="0" anchor="t">
            <a:spAutoFit/>
          </a:bodyPr>
          <a:lstStyle/>
          <a:p>
            <a:pPr algn="l">
              <a:lnSpc>
                <a:spcPts val="3575"/>
              </a:lnSpc>
            </a:pPr>
            <a:r>
              <a:rPr lang="en-US" sz="2553">
                <a:solidFill>
                  <a:srgbClr val="000000"/>
                </a:solidFill>
                <a:latin typeface="Canva Sans"/>
                <a:ea typeface="Canva Sans"/>
                <a:cs typeface="Canva Sans"/>
                <a:sym typeface="Canva Sans"/>
              </a:rPr>
              <a:t>SRI SHAKTHI INSTITUTE OF ENGINEERING AND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TextBox 4"/>
          <p:cNvSpPr txBox="1"/>
          <p:nvPr/>
        </p:nvSpPr>
        <p:spPr>
          <a:xfrm>
            <a:off x="4114800" y="9674490"/>
            <a:ext cx="9817865" cy="449932"/>
          </a:xfrm>
          <a:prstGeom prst="rect">
            <a:avLst/>
          </a:prstGeom>
        </p:spPr>
        <p:txBody>
          <a:bodyPr lIns="0" tIns="0" rIns="0" bIns="0" rtlCol="0" anchor="t">
            <a:spAutoFit/>
          </a:bodyPr>
          <a:lstStyle/>
          <a:p>
            <a:pPr algn="l">
              <a:lnSpc>
                <a:spcPts val="3575"/>
              </a:lnSpc>
            </a:pPr>
            <a:r>
              <a:rPr lang="en-US" sz="2553" dirty="0">
                <a:solidFill>
                  <a:srgbClr val="000000"/>
                </a:solidFill>
                <a:latin typeface="Canva Sans"/>
                <a:ea typeface="Canva Sans"/>
                <a:cs typeface="Canva Sans"/>
                <a:sym typeface="Canva Sans"/>
              </a:rPr>
              <a:t>SRI SHAKTHI INSTITUTE OF ENGINEERING AND TECHNOLOGY</a:t>
            </a:r>
          </a:p>
        </p:txBody>
      </p:sp>
      <p:sp>
        <p:nvSpPr>
          <p:cNvPr id="5" name="TextBox 5"/>
          <p:cNvSpPr txBox="1"/>
          <p:nvPr/>
        </p:nvSpPr>
        <p:spPr>
          <a:xfrm>
            <a:off x="1543363" y="3695700"/>
            <a:ext cx="14992037" cy="3893374"/>
          </a:xfrm>
          <a:prstGeom prst="rect">
            <a:avLst/>
          </a:prstGeom>
        </p:spPr>
        <p:txBody>
          <a:bodyPr wrap="square" lIns="0" tIns="0" rIns="0" bIns="0" rtlCol="0" anchor="t">
            <a:spAutoFit/>
          </a:bodyPr>
          <a:lstStyle/>
          <a:p>
            <a:pPr algn="ctr">
              <a:lnSpc>
                <a:spcPct val="150000"/>
              </a:lnSpc>
            </a:pPr>
            <a:r>
              <a:rPr lang="en-US" sz="8800" i="1" dirty="0">
                <a:solidFill>
                  <a:srgbClr val="000000"/>
                </a:solidFill>
                <a:latin typeface="Roca Two Bold" panose="020B0604020202020204" charset="0"/>
                <a:ea typeface="Roca Two Bold"/>
                <a:cs typeface="Roca Two Bold"/>
                <a:sym typeface="Roca Two Bold"/>
              </a:rPr>
              <a:t>SECURE  LAYER  WITH  </a:t>
            </a:r>
          </a:p>
          <a:p>
            <a:pPr algn="ctr">
              <a:lnSpc>
                <a:spcPct val="150000"/>
              </a:lnSpc>
            </a:pPr>
            <a:r>
              <a:rPr lang="en-US" sz="8800" i="1" dirty="0">
                <a:solidFill>
                  <a:srgbClr val="000000"/>
                </a:solidFill>
                <a:latin typeface="Roca Two Bold" panose="020B0604020202020204" charset="0"/>
                <a:ea typeface="Roca Two Bold"/>
                <a:cs typeface="Roca Two Bold"/>
                <a:sym typeface="Roca Two Bold"/>
              </a:rPr>
              <a:t>LLM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12" name="Freeform 12"/>
          <p:cNvSpPr/>
          <p:nvPr/>
        </p:nvSpPr>
        <p:spPr>
          <a:xfrm>
            <a:off x="5562600" y="2330735"/>
            <a:ext cx="6629400" cy="6629400"/>
          </a:xfrm>
          <a:custGeom>
            <a:avLst/>
            <a:gdLst/>
            <a:ahLst/>
            <a:cxnLst/>
            <a:rect l="l" t="t" r="r" b="b"/>
            <a:pathLst>
              <a:path w="6629400" h="6629400">
                <a:moveTo>
                  <a:pt x="0" y="0"/>
                </a:moveTo>
                <a:lnTo>
                  <a:pt x="6629400" y="0"/>
                </a:lnTo>
                <a:lnTo>
                  <a:pt x="6629400" y="6629400"/>
                </a:lnTo>
                <a:lnTo>
                  <a:pt x="0" y="6629400"/>
                </a:lnTo>
                <a:lnTo>
                  <a:pt x="0" y="0"/>
                </a:lnTo>
                <a:close/>
              </a:path>
            </a:pathLst>
          </a:custGeom>
          <a:blipFill>
            <a:blip r:embed="rId4">
              <a:alphaModFix amt="9999"/>
            </a:blip>
            <a:stretch>
              <a:fillRect/>
            </a:stretch>
          </a:blipFill>
        </p:spPr>
      </p:sp>
      <p:sp>
        <p:nvSpPr>
          <p:cNvPr id="13" name="TextBox 13"/>
          <p:cNvSpPr txBox="1"/>
          <p:nvPr/>
        </p:nvSpPr>
        <p:spPr>
          <a:xfrm>
            <a:off x="4235067" y="9675385"/>
            <a:ext cx="9817865" cy="449932"/>
          </a:xfrm>
          <a:prstGeom prst="rect">
            <a:avLst/>
          </a:prstGeom>
        </p:spPr>
        <p:txBody>
          <a:bodyPr lIns="0" tIns="0" rIns="0" bIns="0" rtlCol="0" anchor="t">
            <a:spAutoFit/>
          </a:bodyPr>
          <a:lstStyle/>
          <a:p>
            <a:pPr algn="l">
              <a:lnSpc>
                <a:spcPts val="3575"/>
              </a:lnSpc>
            </a:pPr>
            <a:r>
              <a:rPr lang="en-US" sz="2553">
                <a:solidFill>
                  <a:srgbClr val="000000"/>
                </a:solidFill>
                <a:latin typeface="Canva Sans"/>
                <a:ea typeface="Canva Sans"/>
                <a:cs typeface="Canva Sans"/>
                <a:sym typeface="Canva Sans"/>
              </a:rPr>
              <a:t>SRI SHAKTHI INSTITUTE OF ENGINEERING AND TECHNOLOGY</a:t>
            </a:r>
          </a:p>
        </p:txBody>
      </p:sp>
      <p:sp>
        <p:nvSpPr>
          <p:cNvPr id="14" name="TextBox 14"/>
          <p:cNvSpPr txBox="1"/>
          <p:nvPr/>
        </p:nvSpPr>
        <p:spPr>
          <a:xfrm>
            <a:off x="1300305" y="1472536"/>
            <a:ext cx="4896040" cy="576863"/>
          </a:xfrm>
          <a:prstGeom prst="rect">
            <a:avLst/>
          </a:prstGeom>
        </p:spPr>
        <p:txBody>
          <a:bodyPr lIns="0" tIns="0" rIns="0" bIns="0" rtlCol="0" anchor="t">
            <a:spAutoFit/>
          </a:bodyPr>
          <a:lstStyle/>
          <a:p>
            <a:pPr algn="l">
              <a:lnSpc>
                <a:spcPts val="4533"/>
              </a:lnSpc>
            </a:pPr>
            <a:r>
              <a:rPr lang="en-US" sz="3238" b="1">
                <a:solidFill>
                  <a:srgbClr val="000000"/>
                </a:solidFill>
                <a:latin typeface="Canva Sans Bold"/>
                <a:ea typeface="Canva Sans Bold"/>
                <a:cs typeface="Canva Sans Bold"/>
                <a:sym typeface="Canva Sans Bold"/>
              </a:rPr>
              <a:t>PROBLEM STATEMENT :</a:t>
            </a:r>
          </a:p>
        </p:txBody>
      </p:sp>
      <p:sp>
        <p:nvSpPr>
          <p:cNvPr id="15" name="TextBox 15"/>
          <p:cNvSpPr txBox="1"/>
          <p:nvPr/>
        </p:nvSpPr>
        <p:spPr>
          <a:xfrm>
            <a:off x="1511127" y="2476500"/>
            <a:ext cx="16052263" cy="5833007"/>
          </a:xfrm>
          <a:prstGeom prst="rect">
            <a:avLst/>
          </a:prstGeom>
        </p:spPr>
        <p:txBody>
          <a:bodyPr lIns="0" tIns="0" rIns="0" bIns="0" rtlCol="0" anchor="t">
            <a:spAutoFit/>
          </a:bodyPr>
          <a:lstStyle/>
          <a:p>
            <a:pPr>
              <a:lnSpc>
                <a:spcPct val="150000"/>
              </a:lnSpc>
            </a:pPr>
            <a:r>
              <a:rPr lang="en-GB" sz="3200" dirty="0"/>
              <a:t>Enterprises using LLMs like </a:t>
            </a:r>
            <a:r>
              <a:rPr lang="en-GB" sz="3200" dirty="0" err="1"/>
              <a:t>LLaMA</a:t>
            </a:r>
            <a:r>
              <a:rPr lang="en-GB" sz="3200" dirty="0"/>
              <a:t> &amp; Grok face serious security challenges due to prompt injection attacks and </a:t>
            </a:r>
            <a:r>
              <a:rPr lang="en-GB" sz="3200" b="1" dirty="0"/>
              <a:t>AI </a:t>
            </a:r>
            <a:r>
              <a:rPr lang="en-GB" sz="3200" dirty="0"/>
              <a:t>misuse.</a:t>
            </a:r>
          </a:p>
          <a:p>
            <a:pPr>
              <a:lnSpc>
                <a:spcPct val="150000"/>
              </a:lnSpc>
            </a:pPr>
            <a:r>
              <a:rPr lang="en-GB" sz="3200" dirty="0"/>
              <a:t>Direct exposure of </a:t>
            </a:r>
            <a:r>
              <a:rPr lang="en-GB" sz="3200" b="1" dirty="0"/>
              <a:t>LLM</a:t>
            </a:r>
            <a:r>
              <a:rPr lang="en-GB" sz="3200" dirty="0"/>
              <a:t>s to users without proper validation can result in unsafe outputs, policy violations, and unethical </a:t>
            </a:r>
            <a:r>
              <a:rPr lang="en-GB" sz="3200" dirty="0" err="1"/>
              <a:t>behavior</a:t>
            </a:r>
            <a:r>
              <a:rPr lang="en-GB" sz="3200" dirty="0"/>
              <a:t>.</a:t>
            </a:r>
          </a:p>
          <a:p>
            <a:pPr>
              <a:lnSpc>
                <a:spcPct val="150000"/>
              </a:lnSpc>
            </a:pPr>
            <a:r>
              <a:rPr lang="en-GB" sz="3200" dirty="0"/>
              <a:t>The absence of a centralized security layer for monitoring and controlling </a:t>
            </a:r>
            <a:r>
              <a:rPr lang="en-GB" sz="3200" b="1" dirty="0"/>
              <a:t>AI </a:t>
            </a:r>
            <a:r>
              <a:rPr lang="en-GB" sz="3200" dirty="0"/>
              <a:t>interactions increases operational and compliance risks.</a:t>
            </a:r>
          </a:p>
          <a:p>
            <a:pPr>
              <a:lnSpc>
                <a:spcPct val="150000"/>
              </a:lnSpc>
            </a:pPr>
            <a:r>
              <a:rPr lang="en-GB" sz="3200" dirty="0"/>
              <a:t>Therefore, a secure enterprise </a:t>
            </a:r>
            <a:r>
              <a:rPr lang="en-GB" sz="3200" b="1" dirty="0"/>
              <a:t>LLM</a:t>
            </a:r>
            <a:r>
              <a:rPr lang="en-GB" sz="3200" dirty="0"/>
              <a:t> security gateway is required to validate inputs and outputs and ensure safe AI deployment.</a:t>
            </a:r>
            <a:endParaRPr lang="en-GB" sz="2900" dirty="0"/>
          </a:p>
        </p:txBody>
      </p:sp>
      <p:grpSp>
        <p:nvGrpSpPr>
          <p:cNvPr id="16" name="Group 4">
            <a:extLst>
              <a:ext uri="{FF2B5EF4-FFF2-40B4-BE49-F238E27FC236}">
                <a16:creationId xmlns:a16="http://schemas.microsoft.com/office/drawing/2014/main" id="{624D0CFD-3817-DA82-39C7-2FCEA959A7FE}"/>
              </a:ext>
            </a:extLst>
          </p:cNvPr>
          <p:cNvGrpSpPr>
            <a:grpSpLocks noChangeAspect="1"/>
          </p:cNvGrpSpPr>
          <p:nvPr/>
        </p:nvGrpSpPr>
        <p:grpSpPr>
          <a:xfrm>
            <a:off x="1248217" y="2862000"/>
            <a:ext cx="104775" cy="104775"/>
            <a:chOff x="0" y="0"/>
            <a:chExt cx="104775" cy="104775"/>
          </a:xfrm>
        </p:grpSpPr>
        <p:sp>
          <p:nvSpPr>
            <p:cNvPr id="17" name="Freeform 5">
              <a:extLst>
                <a:ext uri="{FF2B5EF4-FFF2-40B4-BE49-F238E27FC236}">
                  <a16:creationId xmlns:a16="http://schemas.microsoft.com/office/drawing/2014/main" id="{72124AAF-08C6-15BD-0A54-D6947EBBF9A8}"/>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18" name="Group 4">
            <a:extLst>
              <a:ext uri="{FF2B5EF4-FFF2-40B4-BE49-F238E27FC236}">
                <a16:creationId xmlns:a16="http://schemas.microsoft.com/office/drawing/2014/main" id="{53DFA6AA-CC8E-28D3-7BEA-F36749915721}"/>
              </a:ext>
            </a:extLst>
          </p:cNvPr>
          <p:cNvGrpSpPr>
            <a:grpSpLocks noChangeAspect="1"/>
          </p:cNvGrpSpPr>
          <p:nvPr/>
        </p:nvGrpSpPr>
        <p:grpSpPr>
          <a:xfrm>
            <a:off x="1219200" y="4352925"/>
            <a:ext cx="104775" cy="104775"/>
            <a:chOff x="0" y="0"/>
            <a:chExt cx="104775" cy="104775"/>
          </a:xfrm>
        </p:grpSpPr>
        <p:sp>
          <p:nvSpPr>
            <p:cNvPr id="19" name="Freeform 5">
              <a:extLst>
                <a:ext uri="{FF2B5EF4-FFF2-40B4-BE49-F238E27FC236}">
                  <a16:creationId xmlns:a16="http://schemas.microsoft.com/office/drawing/2014/main" id="{3BCF24C1-27DD-3254-C884-D8265C925F03}"/>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20" name="Group 4">
            <a:extLst>
              <a:ext uri="{FF2B5EF4-FFF2-40B4-BE49-F238E27FC236}">
                <a16:creationId xmlns:a16="http://schemas.microsoft.com/office/drawing/2014/main" id="{3CA343B2-01F1-550D-1D24-C0983C1AB46A}"/>
              </a:ext>
            </a:extLst>
          </p:cNvPr>
          <p:cNvGrpSpPr>
            <a:grpSpLocks noChangeAspect="1"/>
          </p:cNvGrpSpPr>
          <p:nvPr/>
        </p:nvGrpSpPr>
        <p:grpSpPr>
          <a:xfrm>
            <a:off x="1219200" y="5800725"/>
            <a:ext cx="104775" cy="104775"/>
            <a:chOff x="0" y="0"/>
            <a:chExt cx="104775" cy="104775"/>
          </a:xfrm>
        </p:grpSpPr>
        <p:sp>
          <p:nvSpPr>
            <p:cNvPr id="21" name="Freeform 5">
              <a:extLst>
                <a:ext uri="{FF2B5EF4-FFF2-40B4-BE49-F238E27FC236}">
                  <a16:creationId xmlns:a16="http://schemas.microsoft.com/office/drawing/2014/main" id="{08903B19-8F69-55F6-C5C6-B11AF5ED8B1E}"/>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22" name="Group 4">
            <a:extLst>
              <a:ext uri="{FF2B5EF4-FFF2-40B4-BE49-F238E27FC236}">
                <a16:creationId xmlns:a16="http://schemas.microsoft.com/office/drawing/2014/main" id="{CDC6989D-2E1F-FE73-3084-FF5682AA44E8}"/>
              </a:ext>
            </a:extLst>
          </p:cNvPr>
          <p:cNvGrpSpPr>
            <a:grpSpLocks noChangeAspect="1"/>
          </p:cNvGrpSpPr>
          <p:nvPr/>
        </p:nvGrpSpPr>
        <p:grpSpPr>
          <a:xfrm>
            <a:off x="1219200" y="7172214"/>
            <a:ext cx="104775" cy="104775"/>
            <a:chOff x="0" y="0"/>
            <a:chExt cx="104775" cy="104775"/>
          </a:xfrm>
        </p:grpSpPr>
        <p:sp>
          <p:nvSpPr>
            <p:cNvPr id="23" name="Freeform 5">
              <a:extLst>
                <a:ext uri="{FF2B5EF4-FFF2-40B4-BE49-F238E27FC236}">
                  <a16:creationId xmlns:a16="http://schemas.microsoft.com/office/drawing/2014/main" id="{4AE61392-5595-6AD1-90C0-CA0BB831C7F6}"/>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3"/>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4"/>
            <a:stretch>
              <a:fillRect r="-4"/>
            </a:stretch>
          </a:blipFill>
        </p:spPr>
      </p:sp>
      <p:grpSp>
        <p:nvGrpSpPr>
          <p:cNvPr id="16" name="Group 16"/>
          <p:cNvGrpSpPr/>
          <p:nvPr/>
        </p:nvGrpSpPr>
        <p:grpSpPr>
          <a:xfrm rot="7241760">
            <a:off x="5113232" y="1780946"/>
            <a:ext cx="7037451" cy="7037451"/>
            <a:chOff x="0" y="0"/>
            <a:chExt cx="9383268" cy="9383268"/>
          </a:xfrm>
        </p:grpSpPr>
        <p:sp>
          <p:nvSpPr>
            <p:cNvPr id="17" name="Freeform 17" descr="A black background with a black square  AI-generated content may be incorrect."/>
            <p:cNvSpPr/>
            <p:nvPr/>
          </p:nvSpPr>
          <p:spPr>
            <a:xfrm>
              <a:off x="0" y="0"/>
              <a:ext cx="9383268" cy="9383268"/>
            </a:xfrm>
            <a:custGeom>
              <a:avLst/>
              <a:gdLst/>
              <a:ahLst/>
              <a:cxnLst/>
              <a:rect l="l" t="t" r="r" b="b"/>
              <a:pathLst>
                <a:path w="9383268" h="9383268">
                  <a:moveTo>
                    <a:pt x="0" y="9383268"/>
                  </a:moveTo>
                  <a:lnTo>
                    <a:pt x="9383268" y="9383268"/>
                  </a:lnTo>
                  <a:lnTo>
                    <a:pt x="9383268" y="466599"/>
                  </a:lnTo>
                  <a:lnTo>
                    <a:pt x="9106281" y="0"/>
                  </a:lnTo>
                  <a:lnTo>
                    <a:pt x="8804402" y="0"/>
                  </a:lnTo>
                  <a:lnTo>
                    <a:pt x="6960362" y="0"/>
                  </a:lnTo>
                  <a:lnTo>
                    <a:pt x="0" y="0"/>
                  </a:lnTo>
                  <a:lnTo>
                    <a:pt x="0" y="9383268"/>
                  </a:lnTo>
                  <a:close/>
                </a:path>
              </a:pathLst>
            </a:custGeom>
            <a:blipFill>
              <a:blip r:embed="rId5">
                <a:alphaModFix amt="8999"/>
              </a:blip>
              <a:stretch>
                <a:fillRect/>
              </a:stretch>
            </a:blipFill>
          </p:spPr>
        </p:sp>
      </p:grpSp>
      <p:sp>
        <p:nvSpPr>
          <p:cNvPr id="18" name="TextBox 18"/>
          <p:cNvSpPr txBox="1"/>
          <p:nvPr/>
        </p:nvSpPr>
        <p:spPr>
          <a:xfrm>
            <a:off x="4163258" y="9675385"/>
            <a:ext cx="9817865" cy="449932"/>
          </a:xfrm>
          <a:prstGeom prst="rect">
            <a:avLst/>
          </a:prstGeom>
        </p:spPr>
        <p:txBody>
          <a:bodyPr lIns="0" tIns="0" rIns="0" bIns="0" rtlCol="0" anchor="t">
            <a:spAutoFit/>
          </a:bodyPr>
          <a:lstStyle/>
          <a:p>
            <a:pPr algn="l">
              <a:lnSpc>
                <a:spcPts val="3575"/>
              </a:lnSpc>
            </a:pPr>
            <a:r>
              <a:rPr lang="en-US" sz="2553" dirty="0">
                <a:solidFill>
                  <a:srgbClr val="000000"/>
                </a:solidFill>
                <a:latin typeface="Canva Sans"/>
                <a:ea typeface="Canva Sans"/>
                <a:cs typeface="Canva Sans"/>
                <a:sym typeface="Canva Sans"/>
              </a:rPr>
              <a:t>SRI SHAKTHI INSTITUTE OF ENGINEERING AND TECHNOLOGY</a:t>
            </a:r>
          </a:p>
        </p:txBody>
      </p:sp>
      <p:sp>
        <p:nvSpPr>
          <p:cNvPr id="19" name="TextBox 19"/>
          <p:cNvSpPr txBox="1"/>
          <p:nvPr/>
        </p:nvSpPr>
        <p:spPr>
          <a:xfrm>
            <a:off x="1107881" y="1264034"/>
            <a:ext cx="2418540" cy="576863"/>
          </a:xfrm>
          <a:prstGeom prst="rect">
            <a:avLst/>
          </a:prstGeom>
        </p:spPr>
        <p:txBody>
          <a:bodyPr lIns="0" tIns="0" rIns="0" bIns="0" rtlCol="0" anchor="t">
            <a:spAutoFit/>
          </a:bodyPr>
          <a:lstStyle/>
          <a:p>
            <a:pPr algn="l">
              <a:lnSpc>
                <a:spcPts val="4533"/>
              </a:lnSpc>
            </a:pPr>
            <a:r>
              <a:rPr lang="en-US" sz="3238" b="1">
                <a:solidFill>
                  <a:srgbClr val="000000"/>
                </a:solidFill>
                <a:latin typeface="Canva Sans Bold"/>
                <a:ea typeface="Canva Sans Bold"/>
                <a:cs typeface="Canva Sans Bold"/>
                <a:sym typeface="Canva Sans Bold"/>
              </a:rPr>
              <a:t>ABSTRACT :</a:t>
            </a:r>
          </a:p>
        </p:txBody>
      </p:sp>
      <p:sp>
        <p:nvSpPr>
          <p:cNvPr id="21" name="TextBox 21"/>
          <p:cNvSpPr txBox="1"/>
          <p:nvPr/>
        </p:nvSpPr>
        <p:spPr>
          <a:xfrm>
            <a:off x="2086897" y="1999142"/>
            <a:ext cx="14737975" cy="4430059"/>
          </a:xfrm>
          <a:prstGeom prst="rect">
            <a:avLst/>
          </a:prstGeom>
        </p:spPr>
        <p:txBody>
          <a:bodyPr lIns="0" tIns="0" rIns="0" bIns="0" rtlCol="0" anchor="t">
            <a:spAutoFit/>
          </a:bodyPr>
          <a:lstStyle/>
          <a:p>
            <a:pPr>
              <a:lnSpc>
                <a:spcPct val="150000"/>
              </a:lnSpc>
            </a:pPr>
            <a:r>
              <a:rPr lang="en-US" sz="2690" dirty="0">
                <a:solidFill>
                  <a:srgbClr val="000000"/>
                </a:solidFill>
                <a:latin typeface="Canva Sans"/>
                <a:ea typeface="Canva Sans"/>
                <a:cs typeface="Canva Sans"/>
                <a:sym typeface="Canva Sans"/>
              </a:rPr>
              <a:t>This project </a:t>
            </a:r>
            <a:r>
              <a:rPr lang="en-US" sz="2690" dirty="0">
                <a:solidFill>
                  <a:srgbClr val="000000"/>
                </a:solidFill>
                <a:latin typeface="Canva Sans" panose="020B0604020202020204" charset="0"/>
                <a:ea typeface="Canva Sans"/>
                <a:cs typeface="Canva Sans"/>
                <a:sym typeface="Canva Sans"/>
              </a:rPr>
              <a:t>presents </a:t>
            </a:r>
            <a:r>
              <a:rPr lang="en-IN" sz="2800" dirty="0">
                <a:latin typeface="Canva Sans" panose="020B0604020202020204" charset="0"/>
              </a:rPr>
              <a:t>Enterprise AI Security, Prompt Injection Prevention, AI Misuse Control.</a:t>
            </a:r>
          </a:p>
          <a:p>
            <a:pPr>
              <a:lnSpc>
                <a:spcPct val="150000"/>
              </a:lnSpc>
            </a:pPr>
            <a:r>
              <a:rPr lang="en-US" sz="2690" b="1" dirty="0">
                <a:solidFill>
                  <a:srgbClr val="000000"/>
                </a:solidFill>
                <a:latin typeface="Canva Sans" panose="020B0604020202020204" charset="0"/>
                <a:ea typeface="Canva Sans"/>
                <a:cs typeface="Canva Sans"/>
                <a:sym typeface="Canva Sans"/>
              </a:rPr>
              <a:t>The system features:</a:t>
            </a:r>
          </a:p>
          <a:p>
            <a:pPr>
              <a:lnSpc>
                <a:spcPct val="150000"/>
              </a:lnSpc>
            </a:pPr>
            <a:r>
              <a:rPr lang="en-US" sz="2690" b="1" dirty="0">
                <a:solidFill>
                  <a:srgbClr val="000000"/>
                </a:solidFill>
                <a:latin typeface="Canva Sans"/>
                <a:ea typeface="Canva Sans"/>
                <a:cs typeface="Canva Sans"/>
                <a:sym typeface="Canva Sans"/>
              </a:rPr>
              <a:t>Frontend: </a:t>
            </a:r>
            <a:r>
              <a:rPr lang="en-GB" sz="2800" dirty="0">
                <a:latin typeface="Canva Sans" panose="020B0604020202020204" charset="0"/>
              </a:rPr>
              <a:t>HTML, CSS, JavaScript</a:t>
            </a:r>
            <a:endParaRPr lang="en-US" sz="2690" dirty="0">
              <a:solidFill>
                <a:srgbClr val="000000"/>
              </a:solidFill>
              <a:latin typeface="Canva Sans" panose="020B0604020202020204" charset="0"/>
              <a:ea typeface="Canva Sans"/>
              <a:cs typeface="Canva Sans"/>
              <a:sym typeface="Canva Sans"/>
            </a:endParaRPr>
          </a:p>
          <a:p>
            <a:pPr>
              <a:lnSpc>
                <a:spcPct val="150000"/>
              </a:lnSpc>
            </a:pPr>
            <a:r>
              <a:rPr lang="en-US" sz="2690" b="1" dirty="0">
                <a:solidFill>
                  <a:srgbClr val="000000"/>
                </a:solidFill>
                <a:latin typeface="Canva Sans"/>
                <a:ea typeface="Canva Sans"/>
                <a:cs typeface="Canva Sans"/>
                <a:sym typeface="Canva Sans"/>
              </a:rPr>
              <a:t>Backend</a:t>
            </a:r>
            <a:r>
              <a:rPr lang="en-US" sz="2690" b="1" dirty="0">
                <a:solidFill>
                  <a:srgbClr val="000000"/>
                </a:solidFill>
                <a:latin typeface="Canva Sans" panose="020B0604020202020204" charset="0"/>
                <a:ea typeface="Canva Sans"/>
                <a:cs typeface="Canva Sans"/>
                <a:sym typeface="Canva Sans"/>
              </a:rPr>
              <a:t>: </a:t>
            </a:r>
            <a:r>
              <a:rPr lang="en-GB" sz="2800" dirty="0">
                <a:latin typeface="Canva Sans" panose="020B0604020202020204" charset="0"/>
              </a:rPr>
              <a:t>Python with Flask/</a:t>
            </a:r>
            <a:r>
              <a:rPr lang="en-GB" sz="2800" dirty="0" err="1">
                <a:latin typeface="Canva Sans" panose="020B0604020202020204" charset="0"/>
              </a:rPr>
              <a:t>FastAPI</a:t>
            </a:r>
            <a:br>
              <a:rPr lang="en-GB" sz="2800" dirty="0">
                <a:latin typeface="Canva Sans" panose="020B0604020202020204" charset="0"/>
              </a:rPr>
            </a:br>
            <a:r>
              <a:rPr lang="en-GB" sz="2800" dirty="0">
                <a:latin typeface="Canva Sans" panose="020B0604020202020204" charset="0"/>
              </a:rPr>
              <a:t>Acts as Enterprise LLM Security Gateway</a:t>
            </a:r>
            <a:br>
              <a:rPr lang="en-GB" sz="2800" dirty="0">
                <a:latin typeface="Canva Sans" panose="020B0604020202020204" charset="0"/>
              </a:rPr>
            </a:br>
            <a:r>
              <a:rPr lang="en-GB" sz="2800" dirty="0">
                <a:latin typeface="Canva Sans" panose="020B0604020202020204" charset="0"/>
              </a:rPr>
              <a:t>Implements multi-layer prompt and response validation</a:t>
            </a:r>
            <a:endParaRPr lang="en-US" sz="2690" dirty="0">
              <a:solidFill>
                <a:srgbClr val="000000"/>
              </a:solidFill>
              <a:latin typeface="Canva Sans" panose="020B0604020202020204" charset="0"/>
              <a:ea typeface="Canva Sans"/>
              <a:cs typeface="Canva Sans"/>
              <a:sym typeface="Canva Sans"/>
            </a:endParaRPr>
          </a:p>
        </p:txBody>
      </p:sp>
      <p:sp>
        <p:nvSpPr>
          <p:cNvPr id="22" name="TextBox 22"/>
          <p:cNvSpPr txBox="1"/>
          <p:nvPr/>
        </p:nvSpPr>
        <p:spPr>
          <a:xfrm>
            <a:off x="2086897" y="6493823"/>
            <a:ext cx="15597243" cy="2467278"/>
          </a:xfrm>
          <a:prstGeom prst="rect">
            <a:avLst/>
          </a:prstGeom>
        </p:spPr>
        <p:txBody>
          <a:bodyPr lIns="0" tIns="0" rIns="0" bIns="0" rtlCol="0" anchor="t">
            <a:spAutoFit/>
          </a:bodyPr>
          <a:lstStyle/>
          <a:p>
            <a:pPr>
              <a:lnSpc>
                <a:spcPct val="150000"/>
              </a:lnSpc>
            </a:pPr>
            <a:r>
              <a:rPr lang="en-GB" sz="2690" b="1" dirty="0">
                <a:latin typeface="Canva Sans" panose="020B0604020202020204" charset="0"/>
              </a:rPr>
              <a:t>LLM Integration: </a:t>
            </a:r>
            <a:r>
              <a:rPr lang="en-GB" sz="2690" dirty="0" err="1">
                <a:latin typeface="Canva Sans" panose="020B0604020202020204" charset="0"/>
              </a:rPr>
              <a:t>LLaMA</a:t>
            </a:r>
            <a:r>
              <a:rPr lang="en-GB" sz="2690" dirty="0">
                <a:latin typeface="Canva Sans" panose="020B0604020202020204" charset="0"/>
              </a:rPr>
              <a:t> (Local / API / Simulated)   Only validated prompts sent to the </a:t>
            </a:r>
            <a:r>
              <a:rPr lang="en-GB" sz="2690" dirty="0" err="1">
                <a:latin typeface="Canva Sans" panose="020B0604020202020204" charset="0"/>
              </a:rPr>
              <a:t>modelOutput</a:t>
            </a:r>
            <a:r>
              <a:rPr lang="en-GB" sz="2690" dirty="0">
                <a:latin typeface="Canva Sans" panose="020B0604020202020204" charset="0"/>
              </a:rPr>
              <a:t> responses verified for safety and compliance</a:t>
            </a:r>
          </a:p>
          <a:p>
            <a:pPr>
              <a:lnSpc>
                <a:spcPct val="150000"/>
              </a:lnSpc>
            </a:pPr>
            <a:r>
              <a:rPr lang="en-IN" sz="2690" b="1" dirty="0">
                <a:latin typeface="Canva Sans" panose="020B0604020202020204" charset="0"/>
              </a:rPr>
              <a:t>Integration Flow:</a:t>
            </a:r>
            <a:br>
              <a:rPr lang="en-IN" sz="2690" dirty="0">
                <a:latin typeface="Canva Sans" panose="020B0604020202020204" charset="0"/>
              </a:rPr>
            </a:br>
            <a:r>
              <a:rPr lang="en-IN" sz="2690" dirty="0">
                <a:latin typeface="Canva Sans" panose="020B0604020202020204" charset="0"/>
              </a:rPr>
              <a:t>User → Web UI → Security Gateway → </a:t>
            </a:r>
            <a:r>
              <a:rPr lang="en-IN" sz="2690" dirty="0" err="1">
                <a:latin typeface="Canva Sans" panose="020B0604020202020204" charset="0"/>
              </a:rPr>
              <a:t>LLaMA</a:t>
            </a:r>
            <a:r>
              <a:rPr lang="en-IN" sz="2690" dirty="0">
                <a:latin typeface="Canva Sans" panose="020B0604020202020204" charset="0"/>
              </a:rPr>
              <a:t> → Security Check → User</a:t>
            </a:r>
            <a:endParaRPr lang="en-US" sz="2690" dirty="0">
              <a:solidFill>
                <a:srgbClr val="000000"/>
              </a:solidFill>
              <a:latin typeface="Canva Sans" panose="020B0604020202020204" charset="0"/>
              <a:ea typeface="Canva Sans"/>
              <a:cs typeface="Canva Sans"/>
              <a:sym typeface="Canva Sans"/>
            </a:endParaRPr>
          </a:p>
        </p:txBody>
      </p:sp>
      <p:grpSp>
        <p:nvGrpSpPr>
          <p:cNvPr id="23" name="Group 4">
            <a:extLst>
              <a:ext uri="{FF2B5EF4-FFF2-40B4-BE49-F238E27FC236}">
                <a16:creationId xmlns:a16="http://schemas.microsoft.com/office/drawing/2014/main" id="{467DA1FF-AFF3-B25C-E6EA-10E0859773D3}"/>
              </a:ext>
            </a:extLst>
          </p:cNvPr>
          <p:cNvGrpSpPr>
            <a:grpSpLocks noChangeAspect="1"/>
          </p:cNvGrpSpPr>
          <p:nvPr/>
        </p:nvGrpSpPr>
        <p:grpSpPr>
          <a:xfrm>
            <a:off x="1787946" y="2385784"/>
            <a:ext cx="104775" cy="104775"/>
            <a:chOff x="0" y="0"/>
            <a:chExt cx="104775" cy="104775"/>
          </a:xfrm>
        </p:grpSpPr>
        <p:sp>
          <p:nvSpPr>
            <p:cNvPr id="24" name="Freeform 5">
              <a:extLst>
                <a:ext uri="{FF2B5EF4-FFF2-40B4-BE49-F238E27FC236}">
                  <a16:creationId xmlns:a16="http://schemas.microsoft.com/office/drawing/2014/main" id="{715D591A-2180-D30A-694B-1FB32C36DEF5}"/>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25" name="Group 4">
            <a:extLst>
              <a:ext uri="{FF2B5EF4-FFF2-40B4-BE49-F238E27FC236}">
                <a16:creationId xmlns:a16="http://schemas.microsoft.com/office/drawing/2014/main" id="{941FE486-5252-DF77-4B98-3108337AF941}"/>
              </a:ext>
            </a:extLst>
          </p:cNvPr>
          <p:cNvGrpSpPr>
            <a:grpSpLocks noChangeAspect="1"/>
          </p:cNvGrpSpPr>
          <p:nvPr/>
        </p:nvGrpSpPr>
        <p:grpSpPr>
          <a:xfrm>
            <a:off x="1683171" y="4225232"/>
            <a:ext cx="104775" cy="104775"/>
            <a:chOff x="0" y="0"/>
            <a:chExt cx="104775" cy="104775"/>
          </a:xfrm>
        </p:grpSpPr>
        <p:sp>
          <p:nvSpPr>
            <p:cNvPr id="26" name="Freeform 5">
              <a:extLst>
                <a:ext uri="{FF2B5EF4-FFF2-40B4-BE49-F238E27FC236}">
                  <a16:creationId xmlns:a16="http://schemas.microsoft.com/office/drawing/2014/main" id="{64F14C74-5C79-BC9A-DDE6-015FC482836B}"/>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27" name="Group 4">
            <a:extLst>
              <a:ext uri="{FF2B5EF4-FFF2-40B4-BE49-F238E27FC236}">
                <a16:creationId xmlns:a16="http://schemas.microsoft.com/office/drawing/2014/main" id="{60119ADD-9F73-9371-F9F4-76706BDB2F38}"/>
              </a:ext>
            </a:extLst>
          </p:cNvPr>
          <p:cNvGrpSpPr>
            <a:grpSpLocks noChangeAspect="1"/>
          </p:cNvGrpSpPr>
          <p:nvPr/>
        </p:nvGrpSpPr>
        <p:grpSpPr>
          <a:xfrm>
            <a:off x="1683171" y="4927027"/>
            <a:ext cx="104775" cy="104775"/>
            <a:chOff x="0" y="0"/>
            <a:chExt cx="104775" cy="104775"/>
          </a:xfrm>
        </p:grpSpPr>
        <p:sp>
          <p:nvSpPr>
            <p:cNvPr id="28" name="Freeform 5">
              <a:extLst>
                <a:ext uri="{FF2B5EF4-FFF2-40B4-BE49-F238E27FC236}">
                  <a16:creationId xmlns:a16="http://schemas.microsoft.com/office/drawing/2014/main" id="{053C4073-93D0-D7E4-CF70-09C93293C301}"/>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29" name="Group 4">
            <a:extLst>
              <a:ext uri="{FF2B5EF4-FFF2-40B4-BE49-F238E27FC236}">
                <a16:creationId xmlns:a16="http://schemas.microsoft.com/office/drawing/2014/main" id="{A271D41D-FC3A-B73D-ED81-C00F689AF0D2}"/>
              </a:ext>
            </a:extLst>
          </p:cNvPr>
          <p:cNvGrpSpPr>
            <a:grpSpLocks noChangeAspect="1"/>
          </p:cNvGrpSpPr>
          <p:nvPr/>
        </p:nvGrpSpPr>
        <p:grpSpPr>
          <a:xfrm>
            <a:off x="1630783" y="6609440"/>
            <a:ext cx="104775" cy="104775"/>
            <a:chOff x="0" y="0"/>
            <a:chExt cx="104775" cy="104775"/>
          </a:xfrm>
        </p:grpSpPr>
        <p:sp>
          <p:nvSpPr>
            <p:cNvPr id="30" name="Freeform 5">
              <a:extLst>
                <a:ext uri="{FF2B5EF4-FFF2-40B4-BE49-F238E27FC236}">
                  <a16:creationId xmlns:a16="http://schemas.microsoft.com/office/drawing/2014/main" id="{331315E5-F30B-EDC6-7188-42643FD3799D}"/>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grpSp>
        <p:nvGrpSpPr>
          <p:cNvPr id="31" name="Group 4">
            <a:extLst>
              <a:ext uri="{FF2B5EF4-FFF2-40B4-BE49-F238E27FC236}">
                <a16:creationId xmlns:a16="http://schemas.microsoft.com/office/drawing/2014/main" id="{13EE7AAD-762E-D3CE-D11C-ED73FEBFF538}"/>
              </a:ext>
            </a:extLst>
          </p:cNvPr>
          <p:cNvGrpSpPr>
            <a:grpSpLocks noChangeAspect="1"/>
          </p:cNvGrpSpPr>
          <p:nvPr/>
        </p:nvGrpSpPr>
        <p:grpSpPr>
          <a:xfrm>
            <a:off x="1578395" y="8057586"/>
            <a:ext cx="104775" cy="104775"/>
            <a:chOff x="0" y="0"/>
            <a:chExt cx="104775" cy="104775"/>
          </a:xfrm>
        </p:grpSpPr>
        <p:sp>
          <p:nvSpPr>
            <p:cNvPr id="32" name="Freeform 5">
              <a:extLst>
                <a:ext uri="{FF2B5EF4-FFF2-40B4-BE49-F238E27FC236}">
                  <a16:creationId xmlns:a16="http://schemas.microsoft.com/office/drawing/2014/main" id="{CC1A4DC5-DF4E-5BD3-DD9F-0A68320FFAC3}"/>
                </a:ext>
              </a:extLst>
            </p:cNvPr>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000000">
                <a:alpha val="8627"/>
              </a:srgbClr>
            </a:solid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Freeform 4" descr="A hand holding a pen  AI-generated content may be incorrect."/>
          <p:cNvSpPr/>
          <p:nvPr/>
        </p:nvSpPr>
        <p:spPr>
          <a:xfrm>
            <a:off x="5486476" y="1595371"/>
            <a:ext cx="7315009" cy="7315010"/>
          </a:xfrm>
          <a:custGeom>
            <a:avLst/>
            <a:gdLst/>
            <a:ahLst/>
            <a:cxnLst/>
            <a:rect l="l" t="t" r="r" b="b"/>
            <a:pathLst>
              <a:path w="7315009" h="7315010">
                <a:moveTo>
                  <a:pt x="0" y="0"/>
                </a:moveTo>
                <a:lnTo>
                  <a:pt x="7315010" y="0"/>
                </a:lnTo>
                <a:lnTo>
                  <a:pt x="7315010" y="7315009"/>
                </a:lnTo>
                <a:lnTo>
                  <a:pt x="0" y="7315009"/>
                </a:lnTo>
                <a:lnTo>
                  <a:pt x="0" y="0"/>
                </a:lnTo>
                <a:close/>
              </a:path>
            </a:pathLst>
          </a:custGeom>
          <a:blipFill>
            <a:blip r:embed="rId4">
              <a:alphaModFix amt="6000"/>
            </a:blip>
            <a:stretch>
              <a:fillRect/>
            </a:stretch>
          </a:blipFill>
        </p:spPr>
      </p:sp>
      <p:sp>
        <p:nvSpPr>
          <p:cNvPr id="5" name="TextBox 5"/>
          <p:cNvSpPr txBox="1"/>
          <p:nvPr/>
        </p:nvSpPr>
        <p:spPr>
          <a:xfrm>
            <a:off x="907313" y="786508"/>
            <a:ext cx="5610387" cy="577101"/>
          </a:xfrm>
          <a:prstGeom prst="rect">
            <a:avLst/>
          </a:prstGeom>
        </p:spPr>
        <p:txBody>
          <a:bodyPr lIns="0" tIns="0" rIns="0" bIns="0" rtlCol="0" anchor="t">
            <a:spAutoFit/>
          </a:bodyPr>
          <a:lstStyle/>
          <a:p>
            <a:pPr algn="l">
              <a:lnSpc>
                <a:spcPts val="4536"/>
              </a:lnSpc>
            </a:pPr>
            <a:r>
              <a:rPr lang="en-US" sz="3240" b="1">
                <a:solidFill>
                  <a:srgbClr val="000000"/>
                </a:solidFill>
                <a:latin typeface="Canva Sans Bold"/>
                <a:ea typeface="Canva Sans Bold"/>
                <a:cs typeface="Canva Sans Bold"/>
                <a:sym typeface="Canva Sans Bold"/>
              </a:rPr>
              <a:t>EXISTING METHODOLOGY :</a:t>
            </a:r>
          </a:p>
        </p:txBody>
      </p:sp>
      <p:sp>
        <p:nvSpPr>
          <p:cNvPr id="6" name="TextBox 6"/>
          <p:cNvSpPr txBox="1"/>
          <p:nvPr/>
        </p:nvSpPr>
        <p:spPr>
          <a:xfrm>
            <a:off x="4494895" y="9671123"/>
            <a:ext cx="9804321" cy="449342"/>
          </a:xfrm>
          <a:prstGeom prst="rect">
            <a:avLst/>
          </a:prstGeom>
        </p:spPr>
        <p:txBody>
          <a:bodyPr lIns="0" tIns="0" rIns="0" bIns="0" rtlCol="0" anchor="t">
            <a:spAutoFit/>
          </a:bodyPr>
          <a:lstStyle/>
          <a:p>
            <a:pPr algn="l">
              <a:lnSpc>
                <a:spcPts val="3569"/>
              </a:lnSpc>
            </a:pPr>
            <a:r>
              <a:rPr lang="en-US" sz="2550">
                <a:solidFill>
                  <a:srgbClr val="000000"/>
                </a:solidFill>
                <a:latin typeface="Canva Sans"/>
                <a:ea typeface="Canva Sans"/>
                <a:cs typeface="Canva Sans"/>
                <a:sym typeface="Canva Sans"/>
              </a:rPr>
              <a:t>SRI SHAKTHI INSTITUTE OF ENGINEERING AND TECHNOLOGY</a:t>
            </a:r>
          </a:p>
        </p:txBody>
      </p:sp>
      <p:sp>
        <p:nvSpPr>
          <p:cNvPr id="12" name="TextBox 11">
            <a:extLst>
              <a:ext uri="{FF2B5EF4-FFF2-40B4-BE49-F238E27FC236}">
                <a16:creationId xmlns:a16="http://schemas.microsoft.com/office/drawing/2014/main" id="{8B41C1CE-C893-9546-B253-BDC1C85D8ABA}"/>
              </a:ext>
            </a:extLst>
          </p:cNvPr>
          <p:cNvSpPr txBox="1"/>
          <p:nvPr/>
        </p:nvSpPr>
        <p:spPr>
          <a:xfrm>
            <a:off x="1824942" y="1595371"/>
            <a:ext cx="14638076" cy="6863802"/>
          </a:xfrm>
          <a:prstGeom prst="rect">
            <a:avLst/>
          </a:prstGeom>
          <a:noFill/>
        </p:spPr>
        <p:txBody>
          <a:bodyPr wrap="square">
            <a:spAutoFit/>
          </a:bodyPr>
          <a:lstStyle/>
          <a:p>
            <a:pPr>
              <a:lnSpc>
                <a:spcPct val="200000"/>
              </a:lnSpc>
              <a:buFont typeface="+mj-lt"/>
              <a:buAutoNum type="arabicPeriod"/>
            </a:pPr>
            <a:r>
              <a:rPr lang="en-GB" sz="2800" dirty="0">
                <a:latin typeface="Canva Sans" panose="020B0604020202020204" charset="0"/>
              </a:rPr>
              <a:t>Users interact directly with the LLM without any security gateway.</a:t>
            </a:r>
          </a:p>
          <a:p>
            <a:pPr>
              <a:lnSpc>
                <a:spcPct val="200000"/>
              </a:lnSpc>
              <a:buFont typeface="+mj-lt"/>
              <a:buAutoNum type="arabicPeriod"/>
            </a:pPr>
            <a:r>
              <a:rPr lang="en-GB" sz="2800" dirty="0">
                <a:latin typeface="Canva Sans" panose="020B0604020202020204" charset="0"/>
              </a:rPr>
              <a:t>Prompts are not properly checked before being sent to the model.</a:t>
            </a:r>
          </a:p>
          <a:p>
            <a:pPr>
              <a:lnSpc>
                <a:spcPct val="200000"/>
              </a:lnSpc>
              <a:buFont typeface="+mj-lt"/>
              <a:buAutoNum type="arabicPeriod"/>
            </a:pPr>
            <a:r>
              <a:rPr lang="en-GB" sz="2800" dirty="0">
                <a:latin typeface="Canva Sans" panose="020B0604020202020204" charset="0"/>
              </a:rPr>
              <a:t>Systems cannot detect prompt injection or instruction override attempts.</a:t>
            </a:r>
          </a:p>
          <a:p>
            <a:pPr>
              <a:lnSpc>
                <a:spcPct val="200000"/>
              </a:lnSpc>
              <a:buFont typeface="+mj-lt"/>
              <a:buAutoNum type="arabicPeriod"/>
            </a:pPr>
            <a:r>
              <a:rPr lang="en-GB" sz="2800" dirty="0">
                <a:latin typeface="Canva Sans" panose="020B0604020202020204" charset="0"/>
              </a:rPr>
              <a:t>AI models may generate unsafe or unethical responses.</a:t>
            </a:r>
          </a:p>
          <a:p>
            <a:pPr>
              <a:lnSpc>
                <a:spcPct val="200000"/>
              </a:lnSpc>
              <a:buFont typeface="+mj-lt"/>
              <a:buAutoNum type="arabicPeriod"/>
            </a:pPr>
            <a:r>
              <a:rPr lang="en-GB" sz="2800" dirty="0">
                <a:latin typeface="Canva Sans" panose="020B0604020202020204" charset="0"/>
              </a:rPr>
              <a:t>Responses are shown directly to users without safety validation.</a:t>
            </a:r>
          </a:p>
          <a:p>
            <a:pPr>
              <a:lnSpc>
                <a:spcPct val="200000"/>
              </a:lnSpc>
              <a:buFont typeface="+mj-lt"/>
              <a:buAutoNum type="arabicPeriod"/>
            </a:pPr>
            <a:r>
              <a:rPr lang="en-GB" sz="2800" dirty="0">
                <a:latin typeface="Canva Sans" panose="020B0604020202020204" charset="0"/>
              </a:rPr>
              <a:t>Enterprise rules and policies are not applied to AI interactions.</a:t>
            </a:r>
          </a:p>
          <a:p>
            <a:pPr>
              <a:lnSpc>
                <a:spcPct val="200000"/>
              </a:lnSpc>
              <a:buFont typeface="+mj-lt"/>
              <a:buAutoNum type="arabicPeriod"/>
            </a:pPr>
            <a:r>
              <a:rPr lang="en-GB" sz="2800" dirty="0">
                <a:latin typeface="Canva Sans" panose="020B0604020202020204" charset="0"/>
              </a:rPr>
              <a:t>Limited logging makes misuse monitoring difficult.</a:t>
            </a:r>
          </a:p>
          <a:p>
            <a:pPr>
              <a:lnSpc>
                <a:spcPct val="200000"/>
              </a:lnSpc>
              <a:buFont typeface="+mj-lt"/>
              <a:buAutoNum type="arabicPeriod"/>
            </a:pPr>
            <a:r>
              <a:rPr lang="en-GB" sz="2800" dirty="0">
                <a:latin typeface="Canva Sans" panose="020B0604020202020204" charset="0"/>
              </a:rPr>
              <a:t>Existing systems lack centralized control over AI </a:t>
            </a:r>
            <a:r>
              <a:rPr lang="en-GB" sz="2800" dirty="0" err="1">
                <a:latin typeface="Canva Sans" panose="020B0604020202020204" charset="0"/>
              </a:rPr>
              <a:t>behavior</a:t>
            </a:r>
            <a:endParaRPr lang="en-GB" sz="2800" dirty="0">
              <a:latin typeface="Canva Sans"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Freeform 4" descr="A black background with a black square  AI-generated content may be incorrect."/>
          <p:cNvSpPr/>
          <p:nvPr/>
        </p:nvSpPr>
        <p:spPr>
          <a:xfrm>
            <a:off x="4783227" y="1137198"/>
            <a:ext cx="8305800" cy="8305800"/>
          </a:xfrm>
          <a:custGeom>
            <a:avLst/>
            <a:gdLst/>
            <a:ahLst/>
            <a:cxnLst/>
            <a:rect l="l" t="t" r="r" b="b"/>
            <a:pathLst>
              <a:path w="8305800" h="8305800">
                <a:moveTo>
                  <a:pt x="0" y="0"/>
                </a:moveTo>
                <a:lnTo>
                  <a:pt x="8305800" y="0"/>
                </a:lnTo>
                <a:lnTo>
                  <a:pt x="8305800" y="8305800"/>
                </a:lnTo>
                <a:lnTo>
                  <a:pt x="0" y="8305800"/>
                </a:lnTo>
                <a:lnTo>
                  <a:pt x="0" y="0"/>
                </a:lnTo>
                <a:close/>
              </a:path>
            </a:pathLst>
          </a:custGeom>
          <a:blipFill>
            <a:blip r:embed="rId4">
              <a:alphaModFix amt="7999"/>
            </a:blip>
            <a:stretch>
              <a:fillRect/>
            </a:stretch>
          </a:blipFill>
        </p:spPr>
      </p:sp>
      <p:sp>
        <p:nvSpPr>
          <p:cNvPr id="5" name="TextBox 5"/>
          <p:cNvSpPr txBox="1"/>
          <p:nvPr/>
        </p:nvSpPr>
        <p:spPr>
          <a:xfrm>
            <a:off x="4235067" y="9675385"/>
            <a:ext cx="9817865" cy="449932"/>
          </a:xfrm>
          <a:prstGeom prst="rect">
            <a:avLst/>
          </a:prstGeom>
        </p:spPr>
        <p:txBody>
          <a:bodyPr lIns="0" tIns="0" rIns="0" bIns="0" rtlCol="0" anchor="t">
            <a:spAutoFit/>
          </a:bodyPr>
          <a:lstStyle/>
          <a:p>
            <a:pPr algn="l">
              <a:lnSpc>
                <a:spcPts val="3575"/>
              </a:lnSpc>
            </a:pPr>
            <a:r>
              <a:rPr lang="en-US" sz="2553">
                <a:solidFill>
                  <a:srgbClr val="000000"/>
                </a:solidFill>
                <a:latin typeface="Canva Sans"/>
                <a:ea typeface="Canva Sans"/>
                <a:cs typeface="Canva Sans"/>
                <a:sym typeface="Canva Sans"/>
              </a:rPr>
              <a:t>SRI SHAKTHI INSTITUTE OF ENGINEERING AND TECHNOLOGY</a:t>
            </a:r>
          </a:p>
        </p:txBody>
      </p:sp>
      <p:sp>
        <p:nvSpPr>
          <p:cNvPr id="6" name="TextBox 6"/>
          <p:cNvSpPr txBox="1"/>
          <p:nvPr/>
        </p:nvSpPr>
        <p:spPr>
          <a:xfrm>
            <a:off x="1136752" y="1031386"/>
            <a:ext cx="5973099" cy="576863"/>
          </a:xfrm>
          <a:prstGeom prst="rect">
            <a:avLst/>
          </a:prstGeom>
        </p:spPr>
        <p:txBody>
          <a:bodyPr lIns="0" tIns="0" rIns="0" bIns="0" rtlCol="0" anchor="t">
            <a:spAutoFit/>
          </a:bodyPr>
          <a:lstStyle/>
          <a:p>
            <a:pPr algn="l">
              <a:lnSpc>
                <a:spcPts val="4533"/>
              </a:lnSpc>
            </a:pPr>
            <a:r>
              <a:rPr lang="en-US" sz="3238" b="1">
                <a:solidFill>
                  <a:srgbClr val="000000"/>
                </a:solidFill>
                <a:latin typeface="Canva Sans Bold"/>
                <a:ea typeface="Canva Sans Bold"/>
                <a:cs typeface="Canva Sans Bold"/>
                <a:sym typeface="Canva Sans Bold"/>
              </a:rPr>
              <a:t>PROPOSED METHODOLOGY :</a:t>
            </a:r>
          </a:p>
        </p:txBody>
      </p:sp>
      <p:sp>
        <p:nvSpPr>
          <p:cNvPr id="7" name="TextBox 7"/>
          <p:cNvSpPr txBox="1"/>
          <p:nvPr/>
        </p:nvSpPr>
        <p:spPr>
          <a:xfrm>
            <a:off x="1508950" y="2004674"/>
            <a:ext cx="12991846" cy="746506"/>
          </a:xfrm>
          <a:prstGeom prst="rect">
            <a:avLst/>
          </a:prstGeom>
        </p:spPr>
        <p:txBody>
          <a:bodyPr lIns="0" tIns="0" rIns="0" bIns="0" rtlCol="0" anchor="t">
            <a:spAutoFit/>
          </a:bodyPr>
          <a:lstStyle/>
          <a:p>
            <a:pPr>
              <a:lnSpc>
                <a:spcPts val="6725"/>
              </a:lnSpc>
            </a:pPr>
            <a:r>
              <a:rPr lang="en-US" sz="2690" dirty="0">
                <a:solidFill>
                  <a:srgbClr val="000000"/>
                </a:solidFill>
                <a:latin typeface="Canva Sans" panose="020B0604020202020204" charset="0"/>
                <a:ea typeface="Canva Sans"/>
                <a:cs typeface="Canva Sans"/>
                <a:sym typeface="Canva Sans"/>
              </a:rPr>
              <a:t>1. </a:t>
            </a:r>
            <a:r>
              <a:rPr lang="en-GB" sz="2800" dirty="0">
                <a:latin typeface="Canva Sans" panose="020B0604020202020204" charset="0"/>
              </a:rPr>
              <a:t>User Interaction through Secure Interface</a:t>
            </a:r>
            <a:endParaRPr lang="en-US" sz="2690" dirty="0">
              <a:solidFill>
                <a:srgbClr val="000000"/>
              </a:solidFill>
              <a:latin typeface="Canva Sans" panose="020B0604020202020204" charset="0"/>
              <a:ea typeface="Canva Sans"/>
              <a:cs typeface="Canva Sans"/>
              <a:sym typeface="Canva Sans"/>
            </a:endParaRPr>
          </a:p>
        </p:txBody>
      </p:sp>
      <p:sp>
        <p:nvSpPr>
          <p:cNvPr id="8" name="TextBox 8"/>
          <p:cNvSpPr txBox="1"/>
          <p:nvPr/>
        </p:nvSpPr>
        <p:spPr>
          <a:xfrm>
            <a:off x="1508950" y="2839086"/>
            <a:ext cx="12880915" cy="738728"/>
          </a:xfrm>
          <a:prstGeom prst="rect">
            <a:avLst/>
          </a:prstGeom>
        </p:spPr>
        <p:txBody>
          <a:bodyPr lIns="0" tIns="0" rIns="0" bIns="0" rtlCol="0" anchor="t">
            <a:spAutoFit/>
          </a:bodyPr>
          <a:lstStyle/>
          <a:p>
            <a:pPr>
              <a:lnSpc>
                <a:spcPts val="6725"/>
              </a:lnSpc>
            </a:pPr>
            <a:r>
              <a:rPr lang="en-IN" sz="2800" dirty="0">
                <a:latin typeface="Canva Sans" panose="020B0604020202020204" charset="0"/>
              </a:rPr>
              <a:t>2. Authentication and Session Validation</a:t>
            </a:r>
            <a:endParaRPr lang="en-US" sz="2690" dirty="0">
              <a:solidFill>
                <a:srgbClr val="000000"/>
              </a:solidFill>
              <a:latin typeface="Canva Sans" panose="020B0604020202020204" charset="0"/>
              <a:ea typeface="Canva Sans"/>
              <a:cs typeface="Canva Sans"/>
              <a:sym typeface="Canva Sans"/>
            </a:endParaRPr>
          </a:p>
        </p:txBody>
      </p:sp>
      <p:sp>
        <p:nvSpPr>
          <p:cNvPr id="9" name="TextBox 9"/>
          <p:cNvSpPr txBox="1"/>
          <p:nvPr/>
        </p:nvSpPr>
        <p:spPr>
          <a:xfrm>
            <a:off x="1508950" y="3718942"/>
            <a:ext cx="13524490" cy="738728"/>
          </a:xfrm>
          <a:prstGeom prst="rect">
            <a:avLst/>
          </a:prstGeom>
        </p:spPr>
        <p:txBody>
          <a:bodyPr lIns="0" tIns="0" rIns="0" bIns="0" rtlCol="0" anchor="t">
            <a:spAutoFit/>
          </a:bodyPr>
          <a:lstStyle/>
          <a:p>
            <a:pPr>
              <a:lnSpc>
                <a:spcPts val="6725"/>
              </a:lnSpc>
            </a:pPr>
            <a:r>
              <a:rPr lang="en-GB" sz="2800" dirty="0">
                <a:latin typeface="Canva Sans" panose="020B0604020202020204" charset="0"/>
              </a:rPr>
              <a:t>3. Intent Analysis and Risk Assessment</a:t>
            </a:r>
            <a:endParaRPr lang="en-US" sz="2690" dirty="0">
              <a:solidFill>
                <a:srgbClr val="000000"/>
              </a:solidFill>
              <a:latin typeface="Canva Sans" panose="020B0604020202020204" charset="0"/>
              <a:ea typeface="Canva Sans"/>
              <a:cs typeface="Canva Sans"/>
              <a:sym typeface="Canva Sans"/>
            </a:endParaRPr>
          </a:p>
        </p:txBody>
      </p:sp>
      <p:sp>
        <p:nvSpPr>
          <p:cNvPr id="10" name="TextBox 10"/>
          <p:cNvSpPr txBox="1"/>
          <p:nvPr/>
        </p:nvSpPr>
        <p:spPr>
          <a:xfrm>
            <a:off x="1449781" y="4463289"/>
            <a:ext cx="13912571" cy="3311099"/>
          </a:xfrm>
          <a:prstGeom prst="rect">
            <a:avLst/>
          </a:prstGeom>
        </p:spPr>
        <p:txBody>
          <a:bodyPr lIns="0" tIns="0" rIns="0" bIns="0" rtlCol="0" anchor="t">
            <a:spAutoFit/>
          </a:bodyPr>
          <a:lstStyle/>
          <a:p>
            <a:pPr>
              <a:lnSpc>
                <a:spcPts val="6725"/>
              </a:lnSpc>
            </a:pPr>
            <a:r>
              <a:rPr lang="en-GB" sz="2800" dirty="0">
                <a:latin typeface="Canva Sans" panose="020B0604020202020204" charset="0"/>
              </a:rPr>
              <a:t>4. Prompt Injection and Misuse Detection</a:t>
            </a:r>
          </a:p>
          <a:p>
            <a:pPr>
              <a:lnSpc>
                <a:spcPts val="6725"/>
              </a:lnSpc>
            </a:pPr>
            <a:r>
              <a:rPr lang="en-GB" sz="2800" dirty="0">
                <a:solidFill>
                  <a:srgbClr val="000000"/>
                </a:solidFill>
                <a:latin typeface="Canva Sans" panose="020B0604020202020204" charset="0"/>
                <a:ea typeface="Canva Sans"/>
                <a:cs typeface="Canva Sans"/>
                <a:sym typeface="Canva Sans"/>
              </a:rPr>
              <a:t>5. AI –Misuse and Mis behaviour</a:t>
            </a:r>
          </a:p>
          <a:p>
            <a:pPr>
              <a:lnSpc>
                <a:spcPts val="6725"/>
              </a:lnSpc>
            </a:pPr>
            <a:endParaRPr lang="en-GB" sz="2800" dirty="0">
              <a:solidFill>
                <a:srgbClr val="000000"/>
              </a:solidFill>
              <a:latin typeface="Canva Sans" panose="020B0604020202020204" charset="0"/>
              <a:ea typeface="Canva Sans"/>
              <a:cs typeface="Canva Sans"/>
              <a:sym typeface="Canva Sans"/>
            </a:endParaRPr>
          </a:p>
          <a:p>
            <a:pPr>
              <a:lnSpc>
                <a:spcPts val="6725"/>
              </a:lnSpc>
            </a:pPr>
            <a:endParaRPr lang="en-US" sz="2690" dirty="0">
              <a:solidFill>
                <a:srgbClr val="000000"/>
              </a:solidFill>
              <a:latin typeface="Canva Sans" panose="020B0604020202020204" charset="0"/>
              <a:ea typeface="Canva Sans"/>
              <a:cs typeface="Canva Sans"/>
              <a:sym typeface="Canva Sans"/>
            </a:endParaRPr>
          </a:p>
        </p:txBody>
      </p:sp>
      <p:sp>
        <p:nvSpPr>
          <p:cNvPr id="11" name="TextBox 11"/>
          <p:cNvSpPr txBox="1"/>
          <p:nvPr/>
        </p:nvSpPr>
        <p:spPr>
          <a:xfrm>
            <a:off x="1449781" y="6050855"/>
            <a:ext cx="12274336" cy="1592680"/>
          </a:xfrm>
          <a:prstGeom prst="rect">
            <a:avLst/>
          </a:prstGeom>
        </p:spPr>
        <p:txBody>
          <a:bodyPr lIns="0" tIns="0" rIns="0" bIns="0" rtlCol="0" anchor="t">
            <a:spAutoFit/>
          </a:bodyPr>
          <a:lstStyle/>
          <a:p>
            <a:pPr>
              <a:lnSpc>
                <a:spcPts val="6725"/>
              </a:lnSpc>
            </a:pPr>
            <a:r>
              <a:rPr lang="en-GB" sz="2800" dirty="0">
                <a:latin typeface="Canva Sans" panose="020B0604020202020204" charset="0"/>
              </a:rPr>
              <a:t>6. Prompt Sanitization and Policy Enforcement</a:t>
            </a:r>
            <a:br>
              <a:rPr lang="en-GB" sz="2800" dirty="0">
                <a:latin typeface="Canva Sans" panose="020B0604020202020204" charset="0"/>
              </a:rPr>
            </a:br>
            <a:endParaRPr lang="en-US" sz="2690" dirty="0">
              <a:solidFill>
                <a:srgbClr val="000000"/>
              </a:solidFill>
              <a:latin typeface="Canva Sans" panose="020B0604020202020204" charset="0"/>
              <a:ea typeface="Canva Sans"/>
              <a:cs typeface="Canva Sans"/>
              <a:sym typeface="Canva Sans"/>
            </a:endParaRPr>
          </a:p>
        </p:txBody>
      </p:sp>
      <p:sp>
        <p:nvSpPr>
          <p:cNvPr id="12" name="TextBox 12"/>
          <p:cNvSpPr txBox="1"/>
          <p:nvPr/>
        </p:nvSpPr>
        <p:spPr>
          <a:xfrm>
            <a:off x="1449781" y="6737911"/>
            <a:ext cx="11610557" cy="1592680"/>
          </a:xfrm>
          <a:prstGeom prst="rect">
            <a:avLst/>
          </a:prstGeom>
        </p:spPr>
        <p:txBody>
          <a:bodyPr lIns="0" tIns="0" rIns="0" bIns="0" rtlCol="0" anchor="t">
            <a:spAutoFit/>
          </a:bodyPr>
          <a:lstStyle/>
          <a:p>
            <a:pPr>
              <a:lnSpc>
                <a:spcPts val="6725"/>
              </a:lnSpc>
            </a:pPr>
            <a:r>
              <a:rPr lang="en-US" sz="2690" dirty="0">
                <a:solidFill>
                  <a:srgbClr val="000000"/>
                </a:solidFill>
                <a:latin typeface="Canva Sans" panose="020B0604020202020204" charset="0"/>
                <a:ea typeface="Canva Sans"/>
                <a:cs typeface="Canva Sans"/>
                <a:sym typeface="Canva Sans"/>
              </a:rPr>
              <a:t>7. </a:t>
            </a:r>
            <a:r>
              <a:rPr lang="en-GB" sz="2800" dirty="0">
                <a:latin typeface="Canva Sans" panose="020B0604020202020204" charset="0"/>
              </a:rPr>
              <a:t>LLM Response Generation and Validation</a:t>
            </a:r>
            <a:br>
              <a:rPr lang="en-GB" sz="2800" dirty="0">
                <a:latin typeface="Canva Sans" panose="020B0604020202020204" charset="0"/>
              </a:rPr>
            </a:br>
            <a:r>
              <a:rPr lang="en-US" sz="2690" dirty="0">
                <a:solidFill>
                  <a:srgbClr val="000000"/>
                </a:solidFill>
                <a:latin typeface="Canva Sans" panose="020B0604020202020204" charset="0"/>
                <a:ea typeface="Canva Sans"/>
                <a:cs typeface="Canva Sans"/>
                <a:sym typeface="Canva Sans"/>
              </a:rPr>
              <a:t>.</a:t>
            </a:r>
          </a:p>
        </p:txBody>
      </p:sp>
      <p:sp>
        <p:nvSpPr>
          <p:cNvPr id="13" name="TextBox 13"/>
          <p:cNvSpPr txBox="1"/>
          <p:nvPr/>
        </p:nvSpPr>
        <p:spPr>
          <a:xfrm>
            <a:off x="1449781" y="7534251"/>
            <a:ext cx="13166612" cy="746506"/>
          </a:xfrm>
          <a:prstGeom prst="rect">
            <a:avLst/>
          </a:prstGeom>
        </p:spPr>
        <p:txBody>
          <a:bodyPr lIns="0" tIns="0" rIns="0" bIns="0" rtlCol="0" anchor="t">
            <a:spAutoFit/>
          </a:bodyPr>
          <a:lstStyle/>
          <a:p>
            <a:pPr>
              <a:lnSpc>
                <a:spcPts val="6725"/>
              </a:lnSpc>
            </a:pPr>
            <a:r>
              <a:rPr lang="en-US" sz="2690" dirty="0">
                <a:solidFill>
                  <a:srgbClr val="000000"/>
                </a:solidFill>
                <a:latin typeface="Canva Sans" panose="020B0604020202020204" charset="0"/>
                <a:ea typeface="Canva Sans"/>
                <a:cs typeface="Canva Sans"/>
                <a:sym typeface="Canva Sans"/>
              </a:rPr>
              <a:t>8. </a:t>
            </a:r>
            <a:r>
              <a:rPr lang="en-GB" sz="2800" dirty="0">
                <a:latin typeface="Canva Sans" panose="020B0604020202020204" charset="0"/>
              </a:rPr>
              <a:t>Secure Response Delivery and Logging</a:t>
            </a:r>
            <a:r>
              <a:rPr lang="en-US" sz="2690" dirty="0">
                <a:solidFill>
                  <a:srgbClr val="000000"/>
                </a:solidFill>
                <a:latin typeface="Canva Sans" panose="020B0604020202020204" charset="0"/>
                <a:ea typeface="Canva Sans"/>
                <a:cs typeface="Canva Sans"/>
                <a:sym typeface="Canva San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16" name="Freeform 16" descr="A logo of a gear with colorful dots"/>
          <p:cNvSpPr/>
          <p:nvPr/>
        </p:nvSpPr>
        <p:spPr>
          <a:xfrm>
            <a:off x="4824600" y="1685695"/>
            <a:ext cx="7559707" cy="7154294"/>
          </a:xfrm>
          <a:custGeom>
            <a:avLst/>
            <a:gdLst/>
            <a:ahLst/>
            <a:cxnLst/>
            <a:rect l="l" t="t" r="r" b="b"/>
            <a:pathLst>
              <a:path w="7559707" h="7154294">
                <a:moveTo>
                  <a:pt x="0" y="0"/>
                </a:moveTo>
                <a:lnTo>
                  <a:pt x="7559707" y="0"/>
                </a:lnTo>
                <a:lnTo>
                  <a:pt x="7559707" y="7154294"/>
                </a:lnTo>
                <a:lnTo>
                  <a:pt x="0" y="7154294"/>
                </a:lnTo>
                <a:lnTo>
                  <a:pt x="0" y="0"/>
                </a:lnTo>
                <a:close/>
              </a:path>
            </a:pathLst>
          </a:custGeom>
          <a:blipFill>
            <a:blip r:embed="rId4">
              <a:alphaModFix amt="5000"/>
            </a:blip>
            <a:stretch>
              <a:fillRect t="-2833" r="-48" b="-2884"/>
            </a:stretch>
          </a:blipFill>
        </p:spPr>
      </p:sp>
      <p:sp>
        <p:nvSpPr>
          <p:cNvPr id="17" name="TextBox 17"/>
          <p:cNvSpPr txBox="1"/>
          <p:nvPr/>
        </p:nvSpPr>
        <p:spPr>
          <a:xfrm>
            <a:off x="4235067" y="9675385"/>
            <a:ext cx="9817865" cy="449932"/>
          </a:xfrm>
          <a:prstGeom prst="rect">
            <a:avLst/>
          </a:prstGeom>
        </p:spPr>
        <p:txBody>
          <a:bodyPr lIns="0" tIns="0" rIns="0" bIns="0" rtlCol="0" anchor="t">
            <a:spAutoFit/>
          </a:bodyPr>
          <a:lstStyle/>
          <a:p>
            <a:pPr algn="l">
              <a:lnSpc>
                <a:spcPts val="3575"/>
              </a:lnSpc>
            </a:pPr>
            <a:r>
              <a:rPr lang="en-US" sz="2553">
                <a:solidFill>
                  <a:srgbClr val="000000"/>
                </a:solidFill>
                <a:latin typeface="Canva Sans"/>
                <a:ea typeface="Canva Sans"/>
                <a:cs typeface="Canva Sans"/>
                <a:sym typeface="Canva Sans"/>
              </a:rPr>
              <a:t>SRI SHAKTHI INSTITUTE OF ENGINEERING AND TECHNOLOGY</a:t>
            </a:r>
          </a:p>
        </p:txBody>
      </p:sp>
      <p:sp>
        <p:nvSpPr>
          <p:cNvPr id="18" name="TextBox 18"/>
          <p:cNvSpPr txBox="1"/>
          <p:nvPr/>
        </p:nvSpPr>
        <p:spPr>
          <a:xfrm>
            <a:off x="1098728" y="1361542"/>
            <a:ext cx="4791904" cy="577101"/>
          </a:xfrm>
          <a:prstGeom prst="rect">
            <a:avLst/>
          </a:prstGeom>
        </p:spPr>
        <p:txBody>
          <a:bodyPr lIns="0" tIns="0" rIns="0" bIns="0" rtlCol="0" anchor="t">
            <a:spAutoFit/>
          </a:bodyPr>
          <a:lstStyle/>
          <a:p>
            <a:pPr algn="l">
              <a:lnSpc>
                <a:spcPts val="4536"/>
              </a:lnSpc>
            </a:pPr>
            <a:r>
              <a:rPr lang="en-US" sz="3240" b="1">
                <a:solidFill>
                  <a:srgbClr val="000000"/>
                </a:solidFill>
                <a:latin typeface="Canva Sans Bold"/>
                <a:ea typeface="Canva Sans Bold"/>
                <a:cs typeface="Canva Sans Bold"/>
                <a:sym typeface="Canva Sans Bold"/>
              </a:rPr>
              <a:t>TOOLS REQUIREMENT :</a:t>
            </a:r>
          </a:p>
        </p:txBody>
      </p:sp>
      <p:sp>
        <p:nvSpPr>
          <p:cNvPr id="26" name="TextBox 25">
            <a:extLst>
              <a:ext uri="{FF2B5EF4-FFF2-40B4-BE49-F238E27FC236}">
                <a16:creationId xmlns:a16="http://schemas.microsoft.com/office/drawing/2014/main" id="{F02D7A4C-54EB-70F7-6845-B31DF54A7472}"/>
              </a:ext>
            </a:extLst>
          </p:cNvPr>
          <p:cNvSpPr txBox="1"/>
          <p:nvPr/>
        </p:nvSpPr>
        <p:spPr>
          <a:xfrm>
            <a:off x="1451305" y="2305778"/>
            <a:ext cx="15160295" cy="6235553"/>
          </a:xfrm>
          <a:prstGeom prst="rect">
            <a:avLst/>
          </a:prstGeom>
          <a:noFill/>
        </p:spPr>
        <p:txBody>
          <a:bodyPr wrap="square" rtlCol="0">
            <a:spAutoFit/>
          </a:bodyPr>
          <a:lstStyle/>
          <a:p>
            <a:pPr lvl="0" eaLnBrk="0" fontAlgn="base" hangingPunct="0">
              <a:lnSpc>
                <a:spcPct val="150000"/>
              </a:lnSpc>
              <a:spcBef>
                <a:spcPct val="0"/>
              </a:spcBef>
              <a:spcAft>
                <a:spcPct val="0"/>
              </a:spcAft>
            </a:pPr>
            <a:r>
              <a:rPr lang="en-US" altLang="en-US" sz="2690" b="1" dirty="0">
                <a:latin typeface="Canva Sans" panose="020B0604020202020204" charset="0"/>
              </a:rPr>
              <a:t>Frontend:</a:t>
            </a:r>
            <a:r>
              <a:rPr lang="en-US" altLang="en-US" sz="2690" dirty="0">
                <a:latin typeface="Canva Sans" panose="020B0604020202020204" charset="0"/>
              </a:rPr>
              <a:t> HTML, CSS</a:t>
            </a:r>
          </a:p>
          <a:p>
            <a:pPr lvl="0" eaLnBrk="0" fontAlgn="base" hangingPunct="0">
              <a:lnSpc>
                <a:spcPct val="150000"/>
              </a:lnSpc>
              <a:spcBef>
                <a:spcPct val="0"/>
              </a:spcBef>
              <a:spcAft>
                <a:spcPct val="0"/>
              </a:spcAft>
            </a:pPr>
            <a:r>
              <a:rPr lang="en-US" altLang="en-US" sz="2690" b="1" dirty="0">
                <a:latin typeface="Canva Sans" panose="020B0604020202020204" charset="0"/>
              </a:rPr>
              <a:t>Backend:</a:t>
            </a:r>
            <a:r>
              <a:rPr lang="en-US" altLang="en-US" sz="2690" dirty="0">
                <a:latin typeface="Canva Sans" panose="020B0604020202020204" charset="0"/>
              </a:rPr>
              <a:t> Python (Flask / </a:t>
            </a:r>
            <a:r>
              <a:rPr lang="en-US" altLang="en-US" sz="2690" dirty="0" err="1">
                <a:latin typeface="Canva Sans" panose="020B0604020202020204" charset="0"/>
              </a:rPr>
              <a:t>FastAPI</a:t>
            </a:r>
            <a:r>
              <a:rPr lang="en-US" altLang="en-US" sz="2690" dirty="0">
                <a:latin typeface="Canva Sans" panose="020B0604020202020204" charset="0"/>
              </a:rPr>
              <a:t>)</a:t>
            </a:r>
          </a:p>
          <a:p>
            <a:pPr lvl="0" eaLnBrk="0" fontAlgn="base" hangingPunct="0">
              <a:lnSpc>
                <a:spcPct val="150000"/>
              </a:lnSpc>
              <a:spcBef>
                <a:spcPct val="0"/>
              </a:spcBef>
              <a:spcAft>
                <a:spcPct val="0"/>
              </a:spcAft>
            </a:pPr>
            <a:r>
              <a:rPr lang="en-US" altLang="en-US" sz="2690" b="1" dirty="0">
                <a:latin typeface="Canva Sans" panose="020B0604020202020204" charset="0"/>
              </a:rPr>
              <a:t>AI Model:</a:t>
            </a:r>
            <a:r>
              <a:rPr lang="en-US" altLang="en-US" sz="2690" dirty="0">
                <a:latin typeface="Canva Sans" panose="020B0604020202020204" charset="0"/>
              </a:rPr>
              <a:t> </a:t>
            </a:r>
            <a:r>
              <a:rPr lang="en-US" altLang="en-US" sz="2690" dirty="0" err="1">
                <a:latin typeface="Canva Sans" panose="020B0604020202020204" charset="0"/>
              </a:rPr>
              <a:t>LLaMA</a:t>
            </a:r>
            <a:r>
              <a:rPr lang="en-US" altLang="en-US" sz="2690" dirty="0">
                <a:latin typeface="Canva Sans" panose="020B0604020202020204" charset="0"/>
              </a:rPr>
              <a:t> or </a:t>
            </a:r>
            <a:r>
              <a:rPr lang="en-US" altLang="en-US" sz="2690" dirty="0" err="1">
                <a:latin typeface="Canva Sans" panose="020B0604020202020204" charset="0"/>
              </a:rPr>
              <a:t>Deepseek</a:t>
            </a:r>
            <a:endParaRPr lang="en-US" altLang="en-US" sz="2690" dirty="0">
              <a:latin typeface="Canva Sans" panose="020B0604020202020204" charset="0"/>
            </a:endParaRPr>
          </a:p>
          <a:p>
            <a:pPr lvl="0" eaLnBrk="0" fontAlgn="base" hangingPunct="0">
              <a:lnSpc>
                <a:spcPct val="150000"/>
              </a:lnSpc>
              <a:spcBef>
                <a:spcPct val="0"/>
              </a:spcBef>
              <a:spcAft>
                <a:spcPct val="0"/>
              </a:spcAft>
            </a:pPr>
            <a:r>
              <a:rPr lang="en-US" altLang="en-US" sz="2690" b="1" dirty="0">
                <a:latin typeface="Canva Sans" panose="020B0604020202020204" charset="0"/>
              </a:rPr>
              <a:t>Security Checks:</a:t>
            </a:r>
            <a:r>
              <a:rPr lang="en-US" altLang="en-US" sz="2690" dirty="0">
                <a:latin typeface="Canva Sans" panose="020B0604020202020204" charset="0"/>
              </a:rPr>
              <a:t> Rule-based prompt filtering</a:t>
            </a:r>
          </a:p>
          <a:p>
            <a:pPr lvl="0" eaLnBrk="0" fontAlgn="base" hangingPunct="0">
              <a:lnSpc>
                <a:spcPct val="150000"/>
              </a:lnSpc>
              <a:spcBef>
                <a:spcPct val="0"/>
              </a:spcBef>
              <a:spcAft>
                <a:spcPct val="0"/>
              </a:spcAft>
            </a:pPr>
            <a:r>
              <a:rPr lang="en-US" altLang="en-US" sz="2690" b="1" dirty="0">
                <a:latin typeface="Canva Sans" panose="020B0604020202020204" charset="0"/>
              </a:rPr>
              <a:t>Libraries:</a:t>
            </a:r>
            <a:r>
              <a:rPr lang="en-US" altLang="en-US" sz="2690" dirty="0">
                <a:latin typeface="Canva Sans" panose="020B0604020202020204" charset="0"/>
              </a:rPr>
              <a:t> Basic NLP libraries (Regex)</a:t>
            </a:r>
          </a:p>
          <a:p>
            <a:pPr lvl="0" eaLnBrk="0" fontAlgn="base" hangingPunct="0">
              <a:lnSpc>
                <a:spcPct val="150000"/>
              </a:lnSpc>
              <a:spcBef>
                <a:spcPct val="0"/>
              </a:spcBef>
              <a:spcAft>
                <a:spcPct val="0"/>
              </a:spcAft>
            </a:pPr>
            <a:r>
              <a:rPr lang="en-US" altLang="en-US" sz="2690" b="1" dirty="0">
                <a:latin typeface="Canva Sans" panose="020B0604020202020204" charset="0"/>
              </a:rPr>
              <a:t>Development Tool:</a:t>
            </a:r>
            <a:r>
              <a:rPr lang="en-US" altLang="en-US" sz="2690" dirty="0">
                <a:latin typeface="Canva Sans" panose="020B0604020202020204" charset="0"/>
              </a:rPr>
              <a:t>  </a:t>
            </a:r>
            <a:r>
              <a:rPr lang="en-US" altLang="en-US" sz="2690" dirty="0" err="1">
                <a:latin typeface="Canva Sans" panose="020B0604020202020204" charset="0"/>
              </a:rPr>
              <a:t>IntelligentCompiler</a:t>
            </a:r>
            <a:endParaRPr lang="en-US" altLang="en-US" sz="2690" dirty="0">
              <a:latin typeface="Canva Sans" panose="020B0604020202020204" charset="0"/>
            </a:endParaRPr>
          </a:p>
          <a:p>
            <a:pPr lvl="0" eaLnBrk="0" fontAlgn="base" hangingPunct="0">
              <a:lnSpc>
                <a:spcPct val="150000"/>
              </a:lnSpc>
              <a:spcBef>
                <a:spcPct val="0"/>
              </a:spcBef>
              <a:spcAft>
                <a:spcPct val="0"/>
              </a:spcAft>
            </a:pPr>
            <a:r>
              <a:rPr lang="en-US" altLang="en-US" sz="2690" b="1" dirty="0">
                <a:latin typeface="Canva Sans" panose="020B0604020202020204" charset="0"/>
              </a:rPr>
              <a:t>Version Control:</a:t>
            </a:r>
            <a:r>
              <a:rPr lang="en-US" altLang="en-US" sz="2690" dirty="0">
                <a:latin typeface="Canva Sans" panose="020B0604020202020204" charset="0"/>
              </a:rPr>
              <a:t> GitHub</a:t>
            </a:r>
          </a:p>
          <a:p>
            <a:pPr lvl="0" eaLnBrk="0" fontAlgn="base" hangingPunct="0">
              <a:lnSpc>
                <a:spcPct val="150000"/>
              </a:lnSpc>
              <a:spcBef>
                <a:spcPct val="0"/>
              </a:spcBef>
              <a:spcAft>
                <a:spcPct val="0"/>
              </a:spcAft>
            </a:pPr>
            <a:r>
              <a:rPr lang="en-US" altLang="en-US" sz="2690" b="1" dirty="0">
                <a:latin typeface="Canva Sans" panose="020B0604020202020204" charset="0"/>
              </a:rPr>
              <a:t>Testing:</a:t>
            </a:r>
            <a:r>
              <a:rPr lang="en-US" altLang="en-US" sz="2690" dirty="0">
                <a:latin typeface="Canva Sans" panose="020B0604020202020204" charset="0"/>
              </a:rPr>
              <a:t> Postman</a:t>
            </a:r>
          </a:p>
          <a:p>
            <a:pPr lvl="0" eaLnBrk="0" fontAlgn="base" hangingPunct="0">
              <a:lnSpc>
                <a:spcPct val="150000"/>
              </a:lnSpc>
              <a:spcBef>
                <a:spcPct val="0"/>
              </a:spcBef>
              <a:spcAft>
                <a:spcPct val="0"/>
              </a:spcAft>
            </a:pPr>
            <a:r>
              <a:rPr lang="en-US" altLang="en-US" sz="2690" b="1" dirty="0">
                <a:latin typeface="Canva Sans" panose="020B0604020202020204" charset="0"/>
              </a:rPr>
              <a:t>Deployment:</a:t>
            </a:r>
            <a:r>
              <a:rPr lang="en-US" altLang="en-US" sz="2690" dirty="0">
                <a:latin typeface="Canva Sans" panose="020B0604020202020204" charset="0"/>
              </a:rPr>
              <a:t> Localhost (Testing)/ Cloud (Render-Live)</a:t>
            </a:r>
          </a:p>
          <a:p>
            <a:pPr>
              <a:lnSpc>
                <a:spcPct val="150000"/>
              </a:lnSpc>
            </a:pPr>
            <a:endParaRPr lang="en-IN" sz="2690" dirty="0">
              <a:latin typeface="Canva Sans" panose="020B0604020202020204" charset="0"/>
            </a:endParaRPr>
          </a:p>
        </p:txBody>
      </p:sp>
      <p:sp>
        <p:nvSpPr>
          <p:cNvPr id="27" name="Rectangle 4">
            <a:extLst>
              <a:ext uri="{FF2B5EF4-FFF2-40B4-BE49-F238E27FC236}">
                <a16:creationId xmlns:a16="http://schemas.microsoft.com/office/drawing/2014/main" id="{CFD48E10-18E2-A8C5-5C55-C99D09B4848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Freeform 4" descr="A group of purple cubes  AI-generated content may be incorrect."/>
          <p:cNvSpPr/>
          <p:nvPr/>
        </p:nvSpPr>
        <p:spPr>
          <a:xfrm>
            <a:off x="4945445" y="1737642"/>
            <a:ext cx="7010095" cy="7010095"/>
          </a:xfrm>
          <a:custGeom>
            <a:avLst/>
            <a:gdLst/>
            <a:ahLst/>
            <a:cxnLst/>
            <a:rect l="l" t="t" r="r" b="b"/>
            <a:pathLst>
              <a:path w="7010095" h="7010095">
                <a:moveTo>
                  <a:pt x="0" y="0"/>
                </a:moveTo>
                <a:lnTo>
                  <a:pt x="7010095" y="0"/>
                </a:lnTo>
                <a:lnTo>
                  <a:pt x="7010095" y="7010095"/>
                </a:lnTo>
                <a:lnTo>
                  <a:pt x="0" y="7010095"/>
                </a:lnTo>
                <a:lnTo>
                  <a:pt x="0" y="0"/>
                </a:lnTo>
                <a:close/>
              </a:path>
            </a:pathLst>
          </a:custGeom>
          <a:blipFill>
            <a:blip r:embed="rId4">
              <a:alphaModFix amt="9999"/>
            </a:blip>
            <a:stretch>
              <a:fillRect/>
            </a:stretch>
          </a:blipFill>
        </p:spPr>
      </p:sp>
      <p:sp>
        <p:nvSpPr>
          <p:cNvPr id="5" name="TextBox 5"/>
          <p:cNvSpPr txBox="1"/>
          <p:nvPr/>
        </p:nvSpPr>
        <p:spPr>
          <a:xfrm>
            <a:off x="4235067" y="9675385"/>
            <a:ext cx="9817865" cy="449932"/>
          </a:xfrm>
          <a:prstGeom prst="rect">
            <a:avLst/>
          </a:prstGeom>
        </p:spPr>
        <p:txBody>
          <a:bodyPr lIns="0" tIns="0" rIns="0" bIns="0" rtlCol="0" anchor="t">
            <a:spAutoFit/>
          </a:bodyPr>
          <a:lstStyle/>
          <a:p>
            <a:pPr algn="l">
              <a:lnSpc>
                <a:spcPts val="3575"/>
              </a:lnSpc>
            </a:pPr>
            <a:r>
              <a:rPr lang="en-US" sz="2553">
                <a:solidFill>
                  <a:srgbClr val="000000"/>
                </a:solidFill>
                <a:latin typeface="Canva Sans"/>
                <a:ea typeface="Canva Sans"/>
                <a:cs typeface="Canva Sans"/>
                <a:sym typeface="Canva Sans"/>
              </a:rPr>
              <a:t>SRI SHAKTHI INSTITUTE OF ENGINEERING AND TECHNOLOGY</a:t>
            </a:r>
          </a:p>
        </p:txBody>
      </p:sp>
      <p:sp>
        <p:nvSpPr>
          <p:cNvPr id="6" name="TextBox 6"/>
          <p:cNvSpPr txBox="1"/>
          <p:nvPr/>
        </p:nvSpPr>
        <p:spPr>
          <a:xfrm>
            <a:off x="1348273" y="1323861"/>
            <a:ext cx="2322928" cy="577101"/>
          </a:xfrm>
          <a:prstGeom prst="rect">
            <a:avLst/>
          </a:prstGeom>
        </p:spPr>
        <p:txBody>
          <a:bodyPr lIns="0" tIns="0" rIns="0" bIns="0" rtlCol="0" anchor="t">
            <a:spAutoFit/>
          </a:bodyPr>
          <a:lstStyle/>
          <a:p>
            <a:pPr algn="l">
              <a:lnSpc>
                <a:spcPts val="4536"/>
              </a:lnSpc>
            </a:pPr>
            <a:r>
              <a:rPr lang="en-US" sz="3240" b="1">
                <a:solidFill>
                  <a:srgbClr val="000000"/>
                </a:solidFill>
                <a:latin typeface="Canva Sans Bold"/>
                <a:ea typeface="Canva Sans Bold"/>
                <a:cs typeface="Canva Sans Bold"/>
                <a:sym typeface="Canva Sans Bold"/>
              </a:rPr>
              <a:t>MODULES :</a:t>
            </a:r>
          </a:p>
        </p:txBody>
      </p:sp>
      <p:sp>
        <p:nvSpPr>
          <p:cNvPr id="7" name="TextBox 7"/>
          <p:cNvSpPr txBox="1"/>
          <p:nvPr/>
        </p:nvSpPr>
        <p:spPr>
          <a:xfrm>
            <a:off x="1451305" y="2288156"/>
            <a:ext cx="4927673" cy="3442994"/>
          </a:xfrm>
          <a:prstGeom prst="rect">
            <a:avLst/>
          </a:prstGeom>
        </p:spPr>
        <p:txBody>
          <a:bodyPr lIns="0" tIns="0" rIns="0" bIns="0" rtlCol="0" anchor="t">
            <a:spAutoFit/>
          </a:bodyPr>
          <a:lstStyle/>
          <a:p>
            <a:pPr>
              <a:lnSpc>
                <a:spcPts val="5479"/>
              </a:lnSpc>
            </a:pPr>
            <a:r>
              <a:rPr lang="en-GB" sz="2690" dirty="0">
                <a:latin typeface="Canva Sans" panose="020B0604020202020204" charset="0"/>
              </a:rPr>
              <a:t>1.Users log in and enter their prompts using a Existing web page. The system makes sure users do not directly access the AI model.</a:t>
            </a:r>
            <a:endParaRPr lang="en-US" sz="2690" dirty="0">
              <a:solidFill>
                <a:srgbClr val="000000"/>
              </a:solidFill>
              <a:latin typeface="Canva Sans" panose="020B0604020202020204" charset="0"/>
              <a:ea typeface="Canva Sans"/>
              <a:cs typeface="Canva Sans"/>
              <a:sym typeface="Canva Sans"/>
            </a:endParaRPr>
          </a:p>
        </p:txBody>
      </p:sp>
      <p:sp>
        <p:nvSpPr>
          <p:cNvPr id="8" name="TextBox 8"/>
          <p:cNvSpPr txBox="1"/>
          <p:nvPr/>
        </p:nvSpPr>
        <p:spPr>
          <a:xfrm>
            <a:off x="1451343" y="5982957"/>
            <a:ext cx="5307921" cy="3439339"/>
          </a:xfrm>
          <a:prstGeom prst="rect">
            <a:avLst/>
          </a:prstGeom>
        </p:spPr>
        <p:txBody>
          <a:bodyPr lIns="0" tIns="0" rIns="0" bIns="0" rtlCol="0" anchor="t">
            <a:spAutoFit/>
          </a:bodyPr>
          <a:lstStyle/>
          <a:p>
            <a:pPr>
              <a:lnSpc>
                <a:spcPts val="5479"/>
              </a:lnSpc>
            </a:pPr>
            <a:r>
              <a:rPr lang="en-GB" sz="2690" dirty="0">
                <a:latin typeface="Canva Sans" panose="020B0604020202020204" charset="0"/>
              </a:rPr>
              <a:t>2.The system checks the user prompt and Contents for unsafe content, prompt injection, and misuse before sending it to the AI.</a:t>
            </a:r>
            <a:endParaRPr lang="en-US" sz="2690" dirty="0">
              <a:solidFill>
                <a:srgbClr val="000000"/>
              </a:solidFill>
              <a:latin typeface="Canva Sans" panose="020B0604020202020204" charset="0"/>
              <a:ea typeface="Canva Sans"/>
              <a:cs typeface="Canva Sans"/>
              <a:sym typeface="Canva Sans"/>
            </a:endParaRPr>
          </a:p>
        </p:txBody>
      </p:sp>
      <p:sp>
        <p:nvSpPr>
          <p:cNvPr id="9" name="TextBox 9"/>
          <p:cNvSpPr txBox="1"/>
          <p:nvPr/>
        </p:nvSpPr>
        <p:spPr>
          <a:xfrm>
            <a:off x="10141720" y="5982957"/>
            <a:ext cx="5246980" cy="2739276"/>
          </a:xfrm>
          <a:prstGeom prst="rect">
            <a:avLst/>
          </a:prstGeom>
        </p:spPr>
        <p:txBody>
          <a:bodyPr lIns="0" tIns="0" rIns="0" bIns="0" rtlCol="0" anchor="t">
            <a:spAutoFit/>
          </a:bodyPr>
          <a:lstStyle/>
          <a:p>
            <a:pPr>
              <a:lnSpc>
                <a:spcPts val="5479"/>
              </a:lnSpc>
            </a:pPr>
            <a:r>
              <a:rPr lang="en-GB" sz="2690" dirty="0">
                <a:latin typeface="Canva Sans" panose="020B0604020202020204" charset="0"/>
              </a:rPr>
              <a:t>4.The AI response is checked again for safety and policy rules, then safely shown to the user and stored in logs.</a:t>
            </a:r>
            <a:endParaRPr lang="en-US" sz="2690" dirty="0">
              <a:solidFill>
                <a:srgbClr val="000000"/>
              </a:solidFill>
              <a:latin typeface="Canva Sans" panose="020B0604020202020204" charset="0"/>
              <a:ea typeface="Canva Sans"/>
              <a:cs typeface="Canva Sans"/>
              <a:sym typeface="Canva Sans"/>
            </a:endParaRPr>
          </a:p>
        </p:txBody>
      </p:sp>
      <p:sp>
        <p:nvSpPr>
          <p:cNvPr id="10" name="TextBox 10"/>
          <p:cNvSpPr txBox="1"/>
          <p:nvPr/>
        </p:nvSpPr>
        <p:spPr>
          <a:xfrm>
            <a:off x="10141720" y="2429070"/>
            <a:ext cx="6082646" cy="2033955"/>
          </a:xfrm>
          <a:prstGeom prst="rect">
            <a:avLst/>
          </a:prstGeom>
        </p:spPr>
        <p:txBody>
          <a:bodyPr lIns="0" tIns="0" rIns="0" bIns="0" rtlCol="0" anchor="t">
            <a:spAutoFit/>
          </a:bodyPr>
          <a:lstStyle/>
          <a:p>
            <a:pPr>
              <a:lnSpc>
                <a:spcPts val="5479"/>
              </a:lnSpc>
            </a:pPr>
            <a:r>
              <a:rPr lang="en-US" sz="2690" dirty="0">
                <a:solidFill>
                  <a:srgbClr val="000000"/>
                </a:solidFill>
                <a:latin typeface="Canva Sans" panose="020B0604020202020204" charset="0"/>
                <a:ea typeface="Canva Sans"/>
                <a:cs typeface="Canva Sans"/>
                <a:sym typeface="Canva Sans"/>
              </a:rPr>
              <a:t>3. </a:t>
            </a:r>
            <a:r>
              <a:rPr lang="en-GB" sz="2800" dirty="0">
                <a:latin typeface="Canva Sans" panose="020B0604020202020204" charset="0"/>
              </a:rPr>
              <a:t>Only safe request are sent to the </a:t>
            </a:r>
            <a:r>
              <a:rPr lang="en-GB" sz="2800" dirty="0" err="1">
                <a:latin typeface="Canva Sans" panose="020B0604020202020204" charset="0"/>
              </a:rPr>
              <a:t>LLaMA</a:t>
            </a:r>
            <a:r>
              <a:rPr lang="en-GB" sz="2800" dirty="0">
                <a:latin typeface="Canva Sans" panose="020B0604020202020204" charset="0"/>
              </a:rPr>
              <a:t> Or </a:t>
            </a:r>
            <a:r>
              <a:rPr lang="en-GB" sz="2800" dirty="0" err="1">
                <a:latin typeface="Canva Sans" panose="020B0604020202020204" charset="0"/>
              </a:rPr>
              <a:t>Deepseek</a:t>
            </a:r>
            <a:r>
              <a:rPr lang="en-GB" sz="2800" dirty="0">
                <a:latin typeface="Canva Sans" panose="020B0604020202020204" charset="0"/>
              </a:rPr>
              <a:t> model, and the AI generates a response.</a:t>
            </a:r>
            <a:endParaRPr lang="en-US" sz="2690" dirty="0">
              <a:solidFill>
                <a:srgbClr val="000000"/>
              </a:solidFill>
              <a:latin typeface="Canva Sans" panose="020B0604020202020204" charset="0"/>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Freeform 4"/>
          <p:cNvSpPr/>
          <p:nvPr/>
        </p:nvSpPr>
        <p:spPr>
          <a:xfrm>
            <a:off x="-3543" y="38100"/>
            <a:ext cx="1219200" cy="1334395"/>
          </a:xfrm>
          <a:custGeom>
            <a:avLst/>
            <a:gdLst/>
            <a:ahLst/>
            <a:cxnLst/>
            <a:rect l="l" t="t" r="r" b="b"/>
            <a:pathLst>
              <a:path w="1219200" h="1334395">
                <a:moveTo>
                  <a:pt x="0" y="0"/>
                </a:moveTo>
                <a:lnTo>
                  <a:pt x="1219200" y="0"/>
                </a:lnTo>
                <a:lnTo>
                  <a:pt x="1219200" y="1334395"/>
                </a:lnTo>
                <a:lnTo>
                  <a:pt x="0" y="1334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450356" y="9675681"/>
            <a:ext cx="9804321" cy="449342"/>
          </a:xfrm>
          <a:prstGeom prst="rect">
            <a:avLst/>
          </a:prstGeom>
        </p:spPr>
        <p:txBody>
          <a:bodyPr lIns="0" tIns="0" rIns="0" bIns="0" rtlCol="0" anchor="t">
            <a:spAutoFit/>
          </a:bodyPr>
          <a:lstStyle/>
          <a:p>
            <a:pPr algn="l">
              <a:lnSpc>
                <a:spcPts val="3569"/>
              </a:lnSpc>
            </a:pPr>
            <a:r>
              <a:rPr lang="en-US" sz="2550">
                <a:solidFill>
                  <a:srgbClr val="000000"/>
                </a:solidFill>
                <a:latin typeface="Canva Sans"/>
                <a:ea typeface="Canva Sans"/>
                <a:cs typeface="Canva Sans"/>
                <a:sym typeface="Canva Sans"/>
              </a:rPr>
              <a:t>SRI SHAKTHI INSTITUTE OF ENGINEERING AND TECHNOLOGY</a:t>
            </a:r>
          </a:p>
        </p:txBody>
      </p:sp>
      <p:sp>
        <p:nvSpPr>
          <p:cNvPr id="6" name="TextBox 6"/>
          <p:cNvSpPr txBox="1"/>
          <p:nvPr/>
        </p:nvSpPr>
        <p:spPr>
          <a:xfrm>
            <a:off x="998201" y="640432"/>
            <a:ext cx="2834002" cy="535953"/>
          </a:xfrm>
          <a:prstGeom prst="rect">
            <a:avLst/>
          </a:prstGeom>
        </p:spPr>
        <p:txBody>
          <a:bodyPr lIns="0" tIns="0" rIns="0" bIns="0" rtlCol="0" anchor="t">
            <a:spAutoFit/>
          </a:bodyPr>
          <a:lstStyle/>
          <a:p>
            <a:pPr algn="l">
              <a:lnSpc>
                <a:spcPts val="4339"/>
              </a:lnSpc>
            </a:pPr>
            <a:r>
              <a:rPr lang="en-US" sz="3099" b="1" dirty="0">
                <a:solidFill>
                  <a:srgbClr val="000000"/>
                </a:solidFill>
                <a:latin typeface="Canva Sans Bold"/>
                <a:ea typeface="Canva Sans Bold"/>
                <a:cs typeface="Canva Sans Bold"/>
                <a:sym typeface="Canva Sans Bold"/>
              </a:rPr>
              <a:t>FLOW CHART :</a:t>
            </a:r>
          </a:p>
        </p:txBody>
      </p:sp>
      <p:pic>
        <p:nvPicPr>
          <p:cNvPr id="55" name="Picture 54">
            <a:extLst>
              <a:ext uri="{FF2B5EF4-FFF2-40B4-BE49-F238E27FC236}">
                <a16:creationId xmlns:a16="http://schemas.microsoft.com/office/drawing/2014/main" id="{F83B2154-84A5-CB68-D64D-090BDA683AA0}"/>
              </a:ext>
            </a:extLst>
          </p:cNvPr>
          <p:cNvPicPr>
            <a:picLocks noChangeAspect="1"/>
          </p:cNvPicPr>
          <p:nvPr/>
        </p:nvPicPr>
        <p:blipFill>
          <a:blip r:embed="rId6">
            <a:extLst>
              <a:ext uri="{28A0092B-C50C-407E-A947-70E740481C1C}">
                <a14:useLocalDpi xmlns:a14="http://schemas.microsoft.com/office/drawing/2010/main" val="0"/>
              </a:ext>
            </a:extLst>
          </a:blip>
          <a:srcRect t="27701" b="32568"/>
          <a:stretch>
            <a:fillRect/>
          </a:stretch>
        </p:blipFill>
        <p:spPr>
          <a:xfrm>
            <a:off x="998201" y="1714500"/>
            <a:ext cx="16110318" cy="6400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3EC7F-DBA0-F5F0-E1BF-113323344BB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90B0EB5-3B0C-603B-0E17-0B5DE9F15DBD}"/>
              </a:ext>
            </a:extLst>
          </p:cNvPr>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a:extLst>
              <a:ext uri="{FF2B5EF4-FFF2-40B4-BE49-F238E27FC236}">
                <a16:creationId xmlns:a16="http://schemas.microsoft.com/office/drawing/2014/main" id="{59C81CF7-4480-B8A5-84B4-868FB937D26C}"/>
              </a:ext>
            </a:extLst>
          </p:cNvPr>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5" name="TextBox 5">
            <a:extLst>
              <a:ext uri="{FF2B5EF4-FFF2-40B4-BE49-F238E27FC236}">
                <a16:creationId xmlns:a16="http://schemas.microsoft.com/office/drawing/2014/main" id="{CA088A6F-C634-D94E-1369-DAD9D466AB6D}"/>
              </a:ext>
            </a:extLst>
          </p:cNvPr>
          <p:cNvSpPr txBox="1"/>
          <p:nvPr/>
        </p:nvSpPr>
        <p:spPr>
          <a:xfrm>
            <a:off x="4450356" y="9675681"/>
            <a:ext cx="9804321" cy="449342"/>
          </a:xfrm>
          <a:prstGeom prst="rect">
            <a:avLst/>
          </a:prstGeom>
        </p:spPr>
        <p:txBody>
          <a:bodyPr lIns="0" tIns="0" rIns="0" bIns="0" rtlCol="0" anchor="t">
            <a:spAutoFit/>
          </a:bodyPr>
          <a:lstStyle/>
          <a:p>
            <a:pPr algn="l">
              <a:lnSpc>
                <a:spcPts val="3569"/>
              </a:lnSpc>
            </a:pPr>
            <a:r>
              <a:rPr lang="en-US" sz="2550">
                <a:solidFill>
                  <a:srgbClr val="000000"/>
                </a:solidFill>
                <a:latin typeface="Canva Sans"/>
                <a:ea typeface="Canva Sans"/>
                <a:cs typeface="Canva Sans"/>
                <a:sym typeface="Canva Sans"/>
              </a:rPr>
              <a:t>SRI SHAKTHI INSTITUTE OF ENGINEERING AND TECHNOLOGY</a:t>
            </a:r>
          </a:p>
        </p:txBody>
      </p:sp>
      <p:sp>
        <p:nvSpPr>
          <p:cNvPr id="6" name="TextBox 6">
            <a:extLst>
              <a:ext uri="{FF2B5EF4-FFF2-40B4-BE49-F238E27FC236}">
                <a16:creationId xmlns:a16="http://schemas.microsoft.com/office/drawing/2014/main" id="{86C783F9-5D42-2BF1-05CB-0B61F40961E1}"/>
              </a:ext>
            </a:extLst>
          </p:cNvPr>
          <p:cNvSpPr txBox="1"/>
          <p:nvPr/>
        </p:nvSpPr>
        <p:spPr>
          <a:xfrm>
            <a:off x="998201" y="640432"/>
            <a:ext cx="2834002" cy="535953"/>
          </a:xfrm>
          <a:prstGeom prst="rect">
            <a:avLst/>
          </a:prstGeom>
        </p:spPr>
        <p:txBody>
          <a:bodyPr lIns="0" tIns="0" rIns="0" bIns="0" rtlCol="0" anchor="t">
            <a:spAutoFit/>
          </a:bodyPr>
          <a:lstStyle/>
          <a:p>
            <a:pPr algn="l">
              <a:lnSpc>
                <a:spcPts val="4339"/>
              </a:lnSpc>
            </a:pPr>
            <a:r>
              <a:rPr lang="en-US" sz="3099" b="1" dirty="0">
                <a:solidFill>
                  <a:srgbClr val="000000"/>
                </a:solidFill>
                <a:latin typeface="Canva Sans Bold"/>
                <a:ea typeface="Canva Sans Bold"/>
                <a:cs typeface="Canva Sans Bold"/>
                <a:sym typeface="Canva Sans Bold"/>
              </a:rPr>
              <a:t>RESULT:</a:t>
            </a:r>
          </a:p>
        </p:txBody>
      </p:sp>
      <p:pic>
        <p:nvPicPr>
          <p:cNvPr id="7" name="Picture 6">
            <a:extLst>
              <a:ext uri="{FF2B5EF4-FFF2-40B4-BE49-F238E27FC236}">
                <a16:creationId xmlns:a16="http://schemas.microsoft.com/office/drawing/2014/main" id="{F2116758-2A1C-4E98-82C6-33D7AF6AD461}"/>
              </a:ext>
            </a:extLst>
          </p:cNvPr>
          <p:cNvPicPr>
            <a:picLocks noChangeAspect="1"/>
          </p:cNvPicPr>
          <p:nvPr/>
        </p:nvPicPr>
        <p:blipFill>
          <a:blip r:embed="rId4">
            <a:extLst>
              <a:ext uri="{28A0092B-C50C-407E-A947-70E740481C1C}">
                <a14:useLocalDpi xmlns:a14="http://schemas.microsoft.com/office/drawing/2010/main" val="0"/>
              </a:ext>
            </a:extLst>
          </a:blip>
          <a:srcRect t="1976" b="-1976"/>
          <a:stretch>
            <a:fillRect/>
          </a:stretch>
        </p:blipFill>
        <p:spPr>
          <a:xfrm>
            <a:off x="1042536" y="1461275"/>
            <a:ext cx="16299199" cy="7864597"/>
          </a:xfrm>
          <a:prstGeom prst="rect">
            <a:avLst/>
          </a:prstGeom>
        </p:spPr>
      </p:pic>
    </p:spTree>
    <p:extLst>
      <p:ext uri="{BB962C8B-B14F-4D97-AF65-F5344CB8AC3E}">
        <p14:creationId xmlns:p14="http://schemas.microsoft.com/office/powerpoint/2010/main" val="2757632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0847D-D81A-F3DF-FAC0-76C4FFB153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3B3B83-D070-9586-BBCA-51211FAA3EBF}"/>
              </a:ext>
            </a:extLst>
          </p:cNvPr>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a:extLst>
              <a:ext uri="{FF2B5EF4-FFF2-40B4-BE49-F238E27FC236}">
                <a16:creationId xmlns:a16="http://schemas.microsoft.com/office/drawing/2014/main" id="{9E1A9AE7-9551-02BB-42FA-C022FA6C6259}"/>
              </a:ext>
            </a:extLst>
          </p:cNvPr>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5" name="TextBox 5">
            <a:extLst>
              <a:ext uri="{FF2B5EF4-FFF2-40B4-BE49-F238E27FC236}">
                <a16:creationId xmlns:a16="http://schemas.microsoft.com/office/drawing/2014/main" id="{84BAAE5E-D8D7-F571-493E-1A54A5BAA8B4}"/>
              </a:ext>
            </a:extLst>
          </p:cNvPr>
          <p:cNvSpPr txBox="1"/>
          <p:nvPr/>
        </p:nvSpPr>
        <p:spPr>
          <a:xfrm>
            <a:off x="4450356" y="9675681"/>
            <a:ext cx="9804321" cy="449342"/>
          </a:xfrm>
          <a:prstGeom prst="rect">
            <a:avLst/>
          </a:prstGeom>
        </p:spPr>
        <p:txBody>
          <a:bodyPr lIns="0" tIns="0" rIns="0" bIns="0" rtlCol="0" anchor="t">
            <a:spAutoFit/>
          </a:bodyPr>
          <a:lstStyle/>
          <a:p>
            <a:pPr algn="l">
              <a:lnSpc>
                <a:spcPts val="3569"/>
              </a:lnSpc>
            </a:pPr>
            <a:r>
              <a:rPr lang="en-US" sz="2550">
                <a:solidFill>
                  <a:srgbClr val="000000"/>
                </a:solidFill>
                <a:latin typeface="Canva Sans"/>
                <a:ea typeface="Canva Sans"/>
                <a:cs typeface="Canva Sans"/>
                <a:sym typeface="Canva Sans"/>
              </a:rPr>
              <a:t>SRI SHAKTHI INSTITUTE OF ENGINEERING AND TECHNOLOGY</a:t>
            </a:r>
          </a:p>
        </p:txBody>
      </p:sp>
      <p:sp>
        <p:nvSpPr>
          <p:cNvPr id="6" name="TextBox 6">
            <a:extLst>
              <a:ext uri="{FF2B5EF4-FFF2-40B4-BE49-F238E27FC236}">
                <a16:creationId xmlns:a16="http://schemas.microsoft.com/office/drawing/2014/main" id="{D0E3A613-4016-0FB6-95B5-7E1F277891DF}"/>
              </a:ext>
            </a:extLst>
          </p:cNvPr>
          <p:cNvSpPr txBox="1"/>
          <p:nvPr/>
        </p:nvSpPr>
        <p:spPr>
          <a:xfrm>
            <a:off x="998201" y="640432"/>
            <a:ext cx="2834002" cy="535953"/>
          </a:xfrm>
          <a:prstGeom prst="rect">
            <a:avLst/>
          </a:prstGeom>
        </p:spPr>
        <p:txBody>
          <a:bodyPr lIns="0" tIns="0" rIns="0" bIns="0" rtlCol="0" anchor="t">
            <a:spAutoFit/>
          </a:bodyPr>
          <a:lstStyle/>
          <a:p>
            <a:pPr algn="l">
              <a:lnSpc>
                <a:spcPts val="4339"/>
              </a:lnSpc>
            </a:pPr>
            <a:endParaRPr lang="en-US" sz="3099" b="1" dirty="0">
              <a:solidFill>
                <a:srgbClr val="000000"/>
              </a:solidFill>
              <a:latin typeface="Canva Sans Bold"/>
              <a:ea typeface="Canva Sans Bold"/>
              <a:cs typeface="Canva Sans Bold"/>
              <a:sym typeface="Canva Sans Bold"/>
            </a:endParaRPr>
          </a:p>
        </p:txBody>
      </p:sp>
      <p:pic>
        <p:nvPicPr>
          <p:cNvPr id="4" name="Picture 3">
            <a:extLst>
              <a:ext uri="{FF2B5EF4-FFF2-40B4-BE49-F238E27FC236}">
                <a16:creationId xmlns:a16="http://schemas.microsoft.com/office/drawing/2014/main" id="{92C719BF-5E5E-C9E1-3B94-D34E4F8F41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314" y="877235"/>
            <a:ext cx="16451599" cy="8160667"/>
          </a:xfrm>
          <a:prstGeom prst="rect">
            <a:avLst/>
          </a:prstGeom>
        </p:spPr>
      </p:pic>
    </p:spTree>
    <p:extLst>
      <p:ext uri="{BB962C8B-B14F-4D97-AF65-F5344CB8AC3E}">
        <p14:creationId xmlns:p14="http://schemas.microsoft.com/office/powerpoint/2010/main" val="1692716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TextBox 4"/>
          <p:cNvSpPr txBox="1"/>
          <p:nvPr/>
        </p:nvSpPr>
        <p:spPr>
          <a:xfrm>
            <a:off x="4235067" y="9675385"/>
            <a:ext cx="9817865" cy="449932"/>
          </a:xfrm>
          <a:prstGeom prst="rect">
            <a:avLst/>
          </a:prstGeom>
        </p:spPr>
        <p:txBody>
          <a:bodyPr lIns="0" tIns="0" rIns="0" bIns="0" rtlCol="0" anchor="t">
            <a:spAutoFit/>
          </a:bodyPr>
          <a:lstStyle/>
          <a:p>
            <a:pPr algn="l">
              <a:lnSpc>
                <a:spcPts val="3575"/>
              </a:lnSpc>
            </a:pPr>
            <a:r>
              <a:rPr lang="en-US" sz="2553" dirty="0">
                <a:solidFill>
                  <a:srgbClr val="000000"/>
                </a:solidFill>
                <a:latin typeface="Canva Sans"/>
                <a:ea typeface="Canva Sans"/>
                <a:cs typeface="Canva Sans"/>
                <a:sym typeface="Canva Sans"/>
              </a:rPr>
              <a:t>SRI SHAKTHI INSTITUTE OF ENGINEERING AND TECHNOLOGY</a:t>
            </a:r>
          </a:p>
        </p:txBody>
      </p:sp>
      <p:sp>
        <p:nvSpPr>
          <p:cNvPr id="5" name="TextBox 5"/>
          <p:cNvSpPr txBox="1"/>
          <p:nvPr/>
        </p:nvSpPr>
        <p:spPr>
          <a:xfrm>
            <a:off x="760362" y="1322137"/>
            <a:ext cx="2933481" cy="545363"/>
          </a:xfrm>
          <a:prstGeom prst="rect">
            <a:avLst/>
          </a:prstGeom>
        </p:spPr>
        <p:txBody>
          <a:bodyPr lIns="0" tIns="0" rIns="0" bIns="0" rtlCol="0" anchor="t">
            <a:spAutoFit/>
          </a:bodyPr>
          <a:lstStyle/>
          <a:p>
            <a:pPr algn="l">
              <a:lnSpc>
                <a:spcPts val="4338"/>
              </a:lnSpc>
            </a:pPr>
            <a:r>
              <a:rPr lang="en-US" sz="3098" b="1">
                <a:solidFill>
                  <a:srgbClr val="000000"/>
                </a:solidFill>
                <a:latin typeface="Canva Sans Bold"/>
                <a:ea typeface="Canva Sans Bold"/>
                <a:cs typeface="Canva Sans Bold"/>
                <a:sym typeface="Canva Sans Bold"/>
              </a:rPr>
              <a:t>CONCLUSION :</a:t>
            </a:r>
          </a:p>
        </p:txBody>
      </p:sp>
      <p:sp>
        <p:nvSpPr>
          <p:cNvPr id="6" name="TextBox 6"/>
          <p:cNvSpPr txBox="1"/>
          <p:nvPr/>
        </p:nvSpPr>
        <p:spPr>
          <a:xfrm>
            <a:off x="760362" y="2364686"/>
            <a:ext cx="16916019" cy="4590744"/>
          </a:xfrm>
          <a:prstGeom prst="rect">
            <a:avLst/>
          </a:prstGeom>
        </p:spPr>
        <p:txBody>
          <a:bodyPr lIns="0" tIns="0" rIns="0" bIns="0" rtlCol="0" anchor="t">
            <a:spAutoFit/>
          </a:bodyPr>
          <a:lstStyle/>
          <a:p>
            <a:pPr>
              <a:lnSpc>
                <a:spcPts val="6138"/>
              </a:lnSpc>
            </a:pPr>
            <a:r>
              <a:rPr lang="en-GB" sz="2800" dirty="0">
                <a:latin typeface="Canva Sans" panose="020B0604020202020204" charset="0"/>
              </a:rPr>
              <a:t>This project focuses on securing the use of Large Language Models in enterprise systems. A security gateway is placed between the user and the AI model to control all interactions. The system checks user prompts and AI responses to prevent prompt injection and misuse. By applying basic security and policy rules, the project ensures safe and responsible AI usage. Overall, this approach helps enterprises use LLMs securely without directly exposing the model to users.</a:t>
            </a:r>
            <a:endParaRPr lang="en-US" sz="2690" dirty="0">
              <a:solidFill>
                <a:srgbClr val="000000"/>
              </a:solidFill>
              <a:latin typeface="Canva Sans" panose="020B0604020202020204" charset="0"/>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4" name="TextBox 4"/>
          <p:cNvSpPr txBox="1"/>
          <p:nvPr/>
        </p:nvSpPr>
        <p:spPr>
          <a:xfrm>
            <a:off x="1033672" y="616525"/>
            <a:ext cx="2554424" cy="555003"/>
          </a:xfrm>
          <a:prstGeom prst="rect">
            <a:avLst/>
          </a:prstGeom>
        </p:spPr>
        <p:txBody>
          <a:bodyPr lIns="0" tIns="0" rIns="0" bIns="0" rtlCol="0" anchor="t">
            <a:spAutoFit/>
          </a:bodyPr>
          <a:lstStyle/>
          <a:p>
            <a:pPr algn="l">
              <a:lnSpc>
                <a:spcPts val="4553"/>
              </a:lnSpc>
            </a:pPr>
            <a:r>
              <a:rPr lang="en-US" sz="3099" b="1">
                <a:solidFill>
                  <a:srgbClr val="000000"/>
                </a:solidFill>
                <a:latin typeface="Canva Sans Bold"/>
                <a:ea typeface="Canva Sans Bold"/>
                <a:cs typeface="Canva Sans Bold"/>
                <a:sym typeface="Canva Sans Bold"/>
              </a:rPr>
              <a:t>REFERENCE :</a:t>
            </a:r>
          </a:p>
        </p:txBody>
      </p:sp>
      <p:sp>
        <p:nvSpPr>
          <p:cNvPr id="5" name="TextBox 5"/>
          <p:cNvSpPr txBox="1"/>
          <p:nvPr/>
        </p:nvSpPr>
        <p:spPr>
          <a:xfrm>
            <a:off x="1585066" y="1613802"/>
            <a:ext cx="53344" cy="557944"/>
          </a:xfrm>
          <a:prstGeom prst="rect">
            <a:avLst/>
          </a:prstGeom>
        </p:spPr>
        <p:txBody>
          <a:bodyPr lIns="0" tIns="0" rIns="0" bIns="0" rtlCol="0" anchor="t">
            <a:spAutoFit/>
          </a:bodyPr>
          <a:lstStyle/>
          <a:p>
            <a:pPr algn="l">
              <a:lnSpc>
                <a:spcPts val="5068"/>
              </a:lnSpc>
            </a:pPr>
            <a:r>
              <a:rPr lang="en-US" sz="2027">
                <a:solidFill>
                  <a:srgbClr val="000000"/>
                </a:solidFill>
                <a:latin typeface="Aptos"/>
                <a:ea typeface="Aptos"/>
                <a:cs typeface="Aptos"/>
                <a:sym typeface="Aptos"/>
              </a:rPr>
              <a:t> </a:t>
            </a:r>
          </a:p>
        </p:txBody>
      </p:sp>
      <p:sp>
        <p:nvSpPr>
          <p:cNvPr id="6" name="TextBox 6"/>
          <p:cNvSpPr txBox="1"/>
          <p:nvPr/>
        </p:nvSpPr>
        <p:spPr>
          <a:xfrm>
            <a:off x="858508" y="1143364"/>
            <a:ext cx="16945927" cy="682238"/>
          </a:xfrm>
          <a:prstGeom prst="rect">
            <a:avLst/>
          </a:prstGeom>
        </p:spPr>
        <p:txBody>
          <a:bodyPr lIns="0" tIns="0" rIns="0" bIns="0" rtlCol="0" anchor="t">
            <a:spAutoFit/>
          </a:bodyPr>
          <a:lstStyle/>
          <a:p>
            <a:pPr algn="l">
              <a:lnSpc>
                <a:spcPts val="6138"/>
              </a:lnSpc>
            </a:pPr>
            <a:endParaRPr lang="en-US" sz="2690" dirty="0">
              <a:solidFill>
                <a:srgbClr val="000000"/>
              </a:solidFill>
              <a:latin typeface="Aptos"/>
              <a:ea typeface="Aptos"/>
              <a:cs typeface="Aptos"/>
              <a:sym typeface="Aptos"/>
            </a:endParaRPr>
          </a:p>
        </p:txBody>
      </p:sp>
      <p:sp>
        <p:nvSpPr>
          <p:cNvPr id="9" name="TextBox 9"/>
          <p:cNvSpPr txBox="1"/>
          <p:nvPr/>
        </p:nvSpPr>
        <p:spPr>
          <a:xfrm>
            <a:off x="858508" y="6707839"/>
            <a:ext cx="7750204" cy="736981"/>
          </a:xfrm>
          <a:prstGeom prst="rect">
            <a:avLst/>
          </a:prstGeom>
        </p:spPr>
        <p:txBody>
          <a:bodyPr lIns="0" tIns="0" rIns="0" bIns="0" rtlCol="0" anchor="t">
            <a:spAutoFit/>
          </a:bodyPr>
          <a:lstStyle/>
          <a:p>
            <a:pPr algn="l">
              <a:lnSpc>
                <a:spcPts val="6725"/>
              </a:lnSpc>
            </a:pPr>
            <a:endParaRPr lang="en-US" sz="2690" dirty="0">
              <a:solidFill>
                <a:srgbClr val="000000"/>
              </a:solidFill>
              <a:latin typeface="Aptos"/>
              <a:ea typeface="Aptos"/>
              <a:cs typeface="Aptos"/>
              <a:sym typeface="Aptos"/>
            </a:endParaRPr>
          </a:p>
        </p:txBody>
      </p:sp>
      <p:sp>
        <p:nvSpPr>
          <p:cNvPr id="12" name="TextBox 12"/>
          <p:cNvSpPr txBox="1"/>
          <p:nvPr/>
        </p:nvSpPr>
        <p:spPr>
          <a:xfrm>
            <a:off x="4241840" y="9675681"/>
            <a:ext cx="9804321" cy="449342"/>
          </a:xfrm>
          <a:prstGeom prst="rect">
            <a:avLst/>
          </a:prstGeom>
        </p:spPr>
        <p:txBody>
          <a:bodyPr lIns="0" tIns="0" rIns="0" bIns="0" rtlCol="0" anchor="t">
            <a:spAutoFit/>
          </a:bodyPr>
          <a:lstStyle/>
          <a:p>
            <a:pPr algn="l">
              <a:lnSpc>
                <a:spcPts val="3569"/>
              </a:lnSpc>
            </a:pPr>
            <a:r>
              <a:rPr lang="en-US" sz="2550">
                <a:solidFill>
                  <a:srgbClr val="000000"/>
                </a:solidFill>
                <a:latin typeface="Canva Sans"/>
                <a:ea typeface="Canva Sans"/>
                <a:cs typeface="Canva Sans"/>
                <a:sym typeface="Canva Sans"/>
              </a:rPr>
              <a:t>SRI SHAKTHI INSTITUTE OF ENGINEERING AND TECHNOLOGY</a:t>
            </a:r>
          </a:p>
        </p:txBody>
      </p:sp>
      <p:sp>
        <p:nvSpPr>
          <p:cNvPr id="18" name="Rectangle 5">
            <a:extLst>
              <a:ext uri="{FF2B5EF4-FFF2-40B4-BE49-F238E27FC236}">
                <a16:creationId xmlns:a16="http://schemas.microsoft.com/office/drawing/2014/main" id="{C4A6B68F-03F0-2DC9-F2AD-155E402D139C}"/>
              </a:ext>
            </a:extLst>
          </p:cNvPr>
          <p:cNvSpPr>
            <a:spLocks noChangeArrowheads="1"/>
          </p:cNvSpPr>
          <p:nvPr/>
        </p:nvSpPr>
        <p:spPr bwMode="auto">
          <a:xfrm rot="10800000" flipV="1">
            <a:off x="1183729" y="1525875"/>
            <a:ext cx="15920542" cy="723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Know Thy Enemy: Securing LLMs Against Prompt Injection</a:t>
            </a:r>
            <a:r>
              <a:rPr kumimoji="0" lang="en-US" altLang="en-US" sz="2400" b="0" i="0" u="none" strike="noStrike" cap="none" normalizeH="0" baseline="0" dirty="0">
                <a:ln>
                  <a:noFill/>
                </a:ln>
                <a:solidFill>
                  <a:schemeClr val="tx1"/>
                </a:solidFill>
                <a:effectLst/>
                <a:latin typeface="Canva Sans" panose="020B0604020202020204" charset="0"/>
              </a:rPr>
              <a:t> — research on defending LLMs vs prompt injection attacks. </a:t>
            </a:r>
            <a:r>
              <a:rPr kumimoji="0" lang="en-US" altLang="en-US" sz="2400" b="0" i="0" u="none" strike="noStrike" cap="none" normalizeH="0" baseline="0" dirty="0">
                <a:ln>
                  <a:noFill/>
                </a:ln>
                <a:solidFill>
                  <a:schemeClr val="tx1"/>
                </a:solidFill>
                <a:effectLst/>
                <a:latin typeface="Canva Sans" panose="020B0604020202020204" charset="0"/>
                <a:hlinkClick r:id="rId4"/>
              </a:rPr>
              <a:t>Know Thy Enemy: Securing LLMs Against Prompt Injection (</a:t>
            </a:r>
            <a:r>
              <a:rPr kumimoji="0" lang="en-US" altLang="en-US" sz="2400" b="0" i="0" u="none" strike="noStrike" cap="none" normalizeH="0" baseline="0" dirty="0" err="1">
                <a:ln>
                  <a:noFill/>
                </a:ln>
                <a:solidFill>
                  <a:schemeClr val="tx1"/>
                </a:solidFill>
                <a:effectLst/>
                <a:latin typeface="Canva Sans" panose="020B0604020202020204" charset="0"/>
                <a:hlinkClick r:id="rId4"/>
              </a:rPr>
              <a:t>arXiv</a:t>
            </a:r>
            <a:r>
              <a:rPr kumimoji="0" lang="en-US" altLang="en-US" sz="2400" b="0" i="0" u="none" strike="noStrike" cap="none" normalizeH="0" baseline="0" dirty="0">
                <a:ln>
                  <a:noFill/>
                </a:ln>
                <a:solidFill>
                  <a:schemeClr val="tx1"/>
                </a:solidFill>
                <a:effectLst/>
                <a:latin typeface="Canva Sans" panose="020B0604020202020204" charset="0"/>
                <a:hlinkClick r:id="rId4"/>
              </a:rPr>
              <a:t>)</a:t>
            </a:r>
            <a:r>
              <a:rPr kumimoji="0" lang="en-US" altLang="en-US" sz="2400" b="0" i="0" u="none" strike="noStrike" cap="none" normalizeH="0" baseline="0" dirty="0">
                <a:ln>
                  <a:noFill/>
                </a:ln>
                <a:solidFill>
                  <a:schemeClr val="tx1"/>
                </a:solidFill>
                <a:effectLst/>
                <a:latin typeface="Canva Sans" panose="020B0604020202020204" charset="0"/>
              </a:rPr>
              <a:t>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A Multi-Agent LLM Defense Pipeline Against Prompt Injection Attacks</a:t>
            </a:r>
            <a:r>
              <a:rPr kumimoji="0" lang="en-US" altLang="en-US" sz="2400" b="0" i="0" u="none" strike="noStrike" cap="none" normalizeH="0" baseline="0" dirty="0">
                <a:ln>
                  <a:noFill/>
                </a:ln>
                <a:solidFill>
                  <a:schemeClr val="tx1"/>
                </a:solidFill>
                <a:effectLst/>
                <a:latin typeface="Canva Sans" panose="020B0604020202020204" charset="0"/>
              </a:rPr>
              <a:t> — defense mechanisms using coordinated agents. </a:t>
            </a:r>
            <a:r>
              <a:rPr kumimoji="0" lang="en-US" altLang="en-US" sz="2400" b="0" i="0" u="none" strike="noStrike" cap="none" normalizeH="0" baseline="0" dirty="0">
                <a:ln>
                  <a:noFill/>
                </a:ln>
                <a:solidFill>
                  <a:schemeClr val="tx1"/>
                </a:solidFill>
                <a:effectLst/>
                <a:latin typeface="Canva Sans" panose="020B0604020202020204" charset="0"/>
                <a:hlinkClick r:id="rId5"/>
              </a:rPr>
              <a:t>Multi-Agent LLM Defense Pipeline (</a:t>
            </a:r>
            <a:r>
              <a:rPr kumimoji="0" lang="en-US" altLang="en-US" sz="2400" b="0" i="0" u="none" strike="noStrike" cap="none" normalizeH="0" baseline="0" dirty="0" err="1">
                <a:ln>
                  <a:noFill/>
                </a:ln>
                <a:solidFill>
                  <a:schemeClr val="tx1"/>
                </a:solidFill>
                <a:effectLst/>
                <a:latin typeface="Canva Sans" panose="020B0604020202020204" charset="0"/>
                <a:hlinkClick r:id="rId5"/>
              </a:rPr>
              <a:t>arXiv</a:t>
            </a:r>
            <a:r>
              <a:rPr kumimoji="0" lang="en-US" altLang="en-US" sz="2400" b="0" i="0" u="none" strike="noStrike" cap="none" normalizeH="0" baseline="0" dirty="0">
                <a:ln>
                  <a:noFill/>
                </a:ln>
                <a:solidFill>
                  <a:schemeClr val="tx1"/>
                </a:solidFill>
                <a:effectLst/>
                <a:latin typeface="Canva Sans" panose="020B0604020202020204" charset="0"/>
                <a:hlinkClick r:id="rId5"/>
              </a:rPr>
              <a:t>)</a:t>
            </a:r>
            <a:r>
              <a:rPr kumimoji="0" lang="en-US" altLang="en-US" sz="2400" b="0" i="0" u="none" strike="noStrike" cap="none" normalizeH="0" baseline="0" dirty="0">
                <a:ln>
                  <a:noFill/>
                </a:ln>
                <a:solidFill>
                  <a:schemeClr val="tx1"/>
                </a:solidFill>
                <a:effectLst/>
                <a:latin typeface="Canva Sans" panose="020B0604020202020204" charset="0"/>
              </a:rPr>
              <a:t>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Early Approaches to Adversarial Fine-Tuning for Prompt Injection</a:t>
            </a:r>
            <a:r>
              <a:rPr kumimoji="0" lang="en-US" altLang="en-US" sz="2400" b="0" i="0" u="none" strike="noStrike" cap="none" normalizeH="0" baseline="0" dirty="0">
                <a:ln>
                  <a:noFill/>
                </a:ln>
                <a:solidFill>
                  <a:schemeClr val="tx1"/>
                </a:solidFill>
                <a:effectLst/>
                <a:latin typeface="Canva Sans" panose="020B0604020202020204" charset="0"/>
              </a:rPr>
              <a:t> — historical study of defenses. </a:t>
            </a:r>
            <a:r>
              <a:rPr kumimoji="0" lang="en-US" altLang="en-US" sz="2400" b="0" i="0" u="none" strike="noStrike" cap="none" normalizeH="0" baseline="0" dirty="0">
                <a:ln>
                  <a:noFill/>
                </a:ln>
                <a:solidFill>
                  <a:schemeClr val="tx1"/>
                </a:solidFill>
                <a:effectLst/>
                <a:latin typeface="Canva Sans" panose="020B0604020202020204" charset="0"/>
                <a:hlinkClick r:id="rId6"/>
              </a:rPr>
              <a:t>Early Prompt Injection Defense Study (</a:t>
            </a:r>
            <a:r>
              <a:rPr kumimoji="0" lang="en-US" altLang="en-US" sz="2400" b="0" i="0" u="none" strike="noStrike" cap="none" normalizeH="0" baseline="0" dirty="0" err="1">
                <a:ln>
                  <a:noFill/>
                </a:ln>
                <a:solidFill>
                  <a:schemeClr val="tx1"/>
                </a:solidFill>
                <a:effectLst/>
                <a:latin typeface="Canva Sans" panose="020B0604020202020204" charset="0"/>
                <a:hlinkClick r:id="rId6"/>
              </a:rPr>
              <a:t>arXiv</a:t>
            </a:r>
            <a:r>
              <a:rPr kumimoji="0" lang="en-US" altLang="en-US" sz="2400" b="0" i="0" u="none" strike="noStrike" cap="none" normalizeH="0" baseline="0" dirty="0">
                <a:ln>
                  <a:noFill/>
                </a:ln>
                <a:solidFill>
                  <a:schemeClr val="tx1"/>
                </a:solidFill>
                <a:effectLst/>
                <a:latin typeface="Canva Sans" panose="020B0604020202020204" charset="0"/>
                <a:hlinkClick r:id="rId6"/>
              </a:rPr>
              <a:t>)</a:t>
            </a:r>
            <a:r>
              <a:rPr kumimoji="0" lang="en-US" altLang="en-US" sz="2400" b="0" i="0" u="none" strike="noStrike" cap="none" normalizeH="0" baseline="0" dirty="0">
                <a:ln>
                  <a:noFill/>
                </a:ln>
                <a:solidFill>
                  <a:schemeClr val="tx1"/>
                </a:solidFill>
                <a:effectLst/>
                <a:latin typeface="Canva Sans" panose="020B0604020202020204" charset="0"/>
              </a:rPr>
              <a:t>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Systematic Analysis of Prompt Injection Vulnerabilities</a:t>
            </a:r>
            <a:r>
              <a:rPr kumimoji="0" lang="en-US" altLang="en-US" sz="2400" b="0" i="0" u="none" strike="noStrike" cap="none" normalizeH="0" baseline="0" dirty="0">
                <a:ln>
                  <a:noFill/>
                </a:ln>
                <a:solidFill>
                  <a:schemeClr val="tx1"/>
                </a:solidFill>
                <a:effectLst/>
                <a:latin typeface="Canva Sans" panose="020B0604020202020204" charset="0"/>
              </a:rPr>
              <a:t> — analysis of vulnerability across diverse LLMs. </a:t>
            </a:r>
            <a:r>
              <a:rPr kumimoji="0" lang="en-US" altLang="en-US" sz="2400" b="0" i="0" u="none" strike="noStrike" cap="none" normalizeH="0" baseline="0" dirty="0">
                <a:ln>
                  <a:noFill/>
                </a:ln>
                <a:solidFill>
                  <a:schemeClr val="tx1"/>
                </a:solidFill>
                <a:effectLst/>
                <a:latin typeface="Canva Sans" panose="020B0604020202020204" charset="0"/>
                <a:hlinkClick r:id="rId7"/>
              </a:rPr>
              <a:t>Analyzing Prompt Injection Vulnerabilities (</a:t>
            </a:r>
            <a:r>
              <a:rPr kumimoji="0" lang="en-US" altLang="en-US" sz="2400" b="0" i="0" u="none" strike="noStrike" cap="none" normalizeH="0" baseline="0" dirty="0" err="1">
                <a:ln>
                  <a:noFill/>
                </a:ln>
                <a:solidFill>
                  <a:schemeClr val="tx1"/>
                </a:solidFill>
                <a:effectLst/>
                <a:latin typeface="Canva Sans" panose="020B0604020202020204" charset="0"/>
                <a:hlinkClick r:id="rId7"/>
              </a:rPr>
              <a:t>arXiv</a:t>
            </a:r>
            <a:r>
              <a:rPr kumimoji="0" lang="en-US" altLang="en-US" sz="2400" b="0" i="0" u="none" strike="noStrike" cap="none" normalizeH="0" baseline="0" dirty="0">
                <a:ln>
                  <a:noFill/>
                </a:ln>
                <a:solidFill>
                  <a:schemeClr val="tx1"/>
                </a:solidFill>
                <a:effectLst/>
                <a:latin typeface="Canva Sans" panose="020B0604020202020204" charset="0"/>
                <a:hlinkClick r:id="rId7"/>
              </a:rPr>
              <a:t>)</a:t>
            </a:r>
            <a:r>
              <a:rPr kumimoji="0" lang="en-US" altLang="en-US" sz="2400" b="0" i="0" u="none" strike="noStrike" cap="none" normalizeH="0" baseline="0" dirty="0">
                <a:ln>
                  <a:noFill/>
                </a:ln>
                <a:solidFill>
                  <a:schemeClr val="tx1"/>
                </a:solidFill>
                <a:effectLst/>
                <a:latin typeface="Canva Sans" panose="020B0604020202020204" charset="0"/>
              </a:rPr>
              <a:t>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Securing Large Language Models: Addressing Bias, Misinformation &amp; Prompt Attacks</a:t>
            </a:r>
            <a:r>
              <a:rPr kumimoji="0" lang="en-US" altLang="en-US" sz="2400" b="0" i="0" u="none" strike="noStrike" cap="none" normalizeH="0" baseline="0" dirty="0">
                <a:ln>
                  <a:noFill/>
                </a:ln>
                <a:solidFill>
                  <a:schemeClr val="tx1"/>
                </a:solidFill>
                <a:effectLst/>
                <a:latin typeface="Canva Sans" panose="020B0604020202020204" charset="0"/>
              </a:rPr>
              <a:t> — LLM security review. </a:t>
            </a:r>
            <a:r>
              <a:rPr kumimoji="0" lang="en-US" altLang="en-US" sz="2400" b="0" i="0" u="none" strike="noStrike" cap="none" normalizeH="0" baseline="0" dirty="0">
                <a:ln>
                  <a:noFill/>
                </a:ln>
                <a:solidFill>
                  <a:schemeClr val="tx1"/>
                </a:solidFill>
                <a:effectLst/>
                <a:latin typeface="Canva Sans" panose="020B0604020202020204" charset="0"/>
                <a:hlinkClick r:id="rId8"/>
              </a:rPr>
              <a:t>Securing LLMs: Bias, Misinformation &amp; Prompt Attacks (</a:t>
            </a:r>
            <a:r>
              <a:rPr kumimoji="0" lang="en-US" altLang="en-US" sz="2400" b="0" i="0" u="none" strike="noStrike" cap="none" normalizeH="0" baseline="0" dirty="0" err="1">
                <a:ln>
                  <a:noFill/>
                </a:ln>
                <a:solidFill>
                  <a:schemeClr val="tx1"/>
                </a:solidFill>
                <a:effectLst/>
                <a:latin typeface="Canva Sans" panose="020B0604020202020204" charset="0"/>
                <a:hlinkClick r:id="rId8"/>
              </a:rPr>
              <a:t>arXiv</a:t>
            </a:r>
            <a:r>
              <a:rPr kumimoji="0" lang="en-US" altLang="en-US" sz="2400" b="0" i="0" u="none" strike="noStrike" cap="none" normalizeH="0" baseline="0" dirty="0">
                <a:ln>
                  <a:noFill/>
                </a:ln>
                <a:solidFill>
                  <a:schemeClr val="tx1"/>
                </a:solidFill>
                <a:effectLst/>
                <a:latin typeface="Canva Sans" panose="020B0604020202020204" charset="0"/>
                <a:hlinkClick r:id="rId8"/>
              </a:rPr>
              <a:t>)</a:t>
            </a:r>
            <a:r>
              <a:rPr kumimoji="0" lang="en-US" altLang="en-US" sz="2400" b="0" i="0" u="none" strike="noStrike" cap="none" normalizeH="0" baseline="0" dirty="0">
                <a:ln>
                  <a:noFill/>
                </a:ln>
                <a:solidFill>
                  <a:schemeClr val="tx1"/>
                </a:solidFill>
                <a:effectLst/>
                <a:latin typeface="Canva Sans" panose="020B0604020202020204" charset="0"/>
              </a:rPr>
              <a:t>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Prompt Injection Attacks in LLM &amp; AI Agent Systems (Preprint)</a:t>
            </a:r>
            <a:r>
              <a:rPr kumimoji="0" lang="en-US" altLang="en-US" sz="2400" b="0" i="0" u="none" strike="noStrike" cap="none" normalizeH="0" baseline="0" dirty="0">
                <a:ln>
                  <a:noFill/>
                </a:ln>
                <a:solidFill>
                  <a:schemeClr val="tx1"/>
                </a:solidFill>
                <a:effectLst/>
                <a:latin typeface="Canva Sans" panose="020B0604020202020204" charset="0"/>
              </a:rPr>
              <a:t> — comprehensive review of vulnerabilities and defenses. </a:t>
            </a:r>
            <a:r>
              <a:rPr kumimoji="0" lang="en-US" altLang="en-US" sz="2400" b="0" i="0" u="none" strike="noStrike" cap="none" normalizeH="0" baseline="0" dirty="0">
                <a:ln>
                  <a:noFill/>
                </a:ln>
                <a:solidFill>
                  <a:schemeClr val="tx1"/>
                </a:solidFill>
                <a:effectLst/>
                <a:latin typeface="Canva Sans" panose="020B0604020202020204" charset="0"/>
                <a:hlinkClick r:id="rId9"/>
              </a:rPr>
              <a:t>Prompt Injection Attacks Review (Preprints)</a:t>
            </a:r>
            <a:r>
              <a:rPr kumimoji="0" lang="en-US" altLang="en-US" sz="2400" b="0" i="0" u="none" strike="noStrike" cap="none" normalizeH="0" baseline="0" dirty="0">
                <a:ln>
                  <a:noFill/>
                </a:ln>
                <a:solidFill>
                  <a:schemeClr val="tx1"/>
                </a:solidFill>
                <a:effectLst/>
                <a:latin typeface="Canva Sans" panose="020B0604020202020204" charset="0"/>
              </a:rPr>
              <a:t>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nva Sans" panose="020B0604020202020204" charset="0"/>
              </a:rPr>
              <a:t>Prompt Injection | OWASP Foundation</a:t>
            </a:r>
            <a:r>
              <a:rPr kumimoji="0" lang="en-US" altLang="en-US" sz="2400" b="0" i="0" u="none" strike="noStrike" cap="none" normalizeH="0" baseline="0" dirty="0">
                <a:ln>
                  <a:noFill/>
                </a:ln>
                <a:solidFill>
                  <a:schemeClr val="tx1"/>
                </a:solidFill>
                <a:effectLst/>
                <a:latin typeface="Canva Sans" panose="020B0604020202020204" charset="0"/>
              </a:rPr>
              <a:t> — definition, types, risks &amp; examples. </a:t>
            </a:r>
            <a:r>
              <a:rPr kumimoji="0" lang="en-US" altLang="en-US" sz="2400" b="0" i="0" u="none" strike="noStrike" cap="none" normalizeH="0" baseline="0" dirty="0">
                <a:ln>
                  <a:noFill/>
                </a:ln>
                <a:solidFill>
                  <a:schemeClr val="tx1"/>
                </a:solidFill>
                <a:effectLst/>
                <a:latin typeface="Canva Sans" panose="020B0604020202020204" charset="0"/>
                <a:hlinkClick r:id="rId10"/>
              </a:rPr>
              <a:t>Prompt Injection (OWASP)</a:t>
            </a:r>
            <a:r>
              <a:rPr kumimoji="0" lang="en-US" altLang="en-US" sz="2400" b="0" i="0" u="none" strike="noStrike" cap="none" normalizeH="0" baseline="0" dirty="0">
                <a:ln>
                  <a:noFill/>
                </a:ln>
                <a:solidFill>
                  <a:schemeClr val="tx1"/>
                </a:solidFill>
                <a:effectLst/>
                <a:latin typeface="Canva Sans" panose="020B0604020202020204"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8950" y="9610763"/>
            <a:ext cx="15584329" cy="626802"/>
          </a:xfrm>
          <a:custGeom>
            <a:avLst/>
            <a:gdLst/>
            <a:ahLst/>
            <a:cxnLst/>
            <a:rect l="l" t="t" r="r" b="b"/>
            <a:pathLst>
              <a:path w="15584329" h="626802">
                <a:moveTo>
                  <a:pt x="0" y="0"/>
                </a:moveTo>
                <a:lnTo>
                  <a:pt x="15584329" y="0"/>
                </a:lnTo>
                <a:lnTo>
                  <a:pt x="15584329" y="626802"/>
                </a:lnTo>
                <a:lnTo>
                  <a:pt x="0" y="626802"/>
                </a:lnTo>
                <a:lnTo>
                  <a:pt x="0" y="0"/>
                </a:lnTo>
                <a:close/>
              </a:path>
            </a:pathLst>
          </a:custGeom>
          <a:blipFill>
            <a:blip r:embed="rId2"/>
            <a:stretch>
              <a:fillRect t="-328416" b="-328223"/>
            </a:stretch>
          </a:blipFill>
        </p:spPr>
      </p:sp>
      <p:sp>
        <p:nvSpPr>
          <p:cNvPr id="3" name="Freeform 3"/>
          <p:cNvSpPr/>
          <p:nvPr/>
        </p:nvSpPr>
        <p:spPr>
          <a:xfrm>
            <a:off x="606057" y="9561338"/>
            <a:ext cx="845248" cy="676237"/>
          </a:xfrm>
          <a:custGeom>
            <a:avLst/>
            <a:gdLst/>
            <a:ahLst/>
            <a:cxnLst/>
            <a:rect l="l" t="t" r="r" b="b"/>
            <a:pathLst>
              <a:path w="845248" h="676237">
                <a:moveTo>
                  <a:pt x="0" y="0"/>
                </a:moveTo>
                <a:lnTo>
                  <a:pt x="845248" y="0"/>
                </a:lnTo>
                <a:lnTo>
                  <a:pt x="845248" y="676237"/>
                </a:lnTo>
                <a:lnTo>
                  <a:pt x="0" y="676237"/>
                </a:lnTo>
                <a:lnTo>
                  <a:pt x="0" y="0"/>
                </a:lnTo>
                <a:close/>
              </a:path>
            </a:pathLst>
          </a:custGeom>
          <a:blipFill>
            <a:blip r:embed="rId3"/>
            <a:stretch>
              <a:fillRect r="-4"/>
            </a:stretch>
          </a:blipFill>
        </p:spPr>
      </p:sp>
      <p:sp>
        <p:nvSpPr>
          <p:cNvPr id="5" name="TextBox 5"/>
          <p:cNvSpPr txBox="1"/>
          <p:nvPr/>
        </p:nvSpPr>
        <p:spPr>
          <a:xfrm>
            <a:off x="4419600" y="9684076"/>
            <a:ext cx="10568690" cy="430759"/>
          </a:xfrm>
          <a:prstGeom prst="rect">
            <a:avLst/>
          </a:prstGeom>
        </p:spPr>
        <p:txBody>
          <a:bodyPr wrap="square" lIns="0" tIns="0" rIns="0" bIns="0" rtlCol="0" anchor="t">
            <a:spAutoFit/>
          </a:bodyPr>
          <a:lstStyle/>
          <a:p>
            <a:pPr algn="ctr">
              <a:lnSpc>
                <a:spcPts val="3575"/>
              </a:lnSpc>
              <a:spcBef>
                <a:spcPct val="0"/>
              </a:spcBef>
            </a:pPr>
            <a:r>
              <a:rPr lang="en-US" sz="2553" dirty="0">
                <a:solidFill>
                  <a:srgbClr val="000000"/>
                </a:solidFill>
                <a:latin typeface="Canva Sans"/>
                <a:ea typeface="Canva Sans"/>
                <a:cs typeface="Canva Sans"/>
                <a:sym typeface="Canva Sans"/>
              </a:rPr>
              <a:t>SRI SHAKTHI INSTITUTE OF ENGINEERING AND TECHNOLOGY</a:t>
            </a:r>
          </a:p>
        </p:txBody>
      </p:sp>
      <p:pic>
        <p:nvPicPr>
          <p:cNvPr id="3074" name="Picture 2" descr="typography thank you text effect ...">
            <a:extLst>
              <a:ext uri="{FF2B5EF4-FFF2-40B4-BE49-F238E27FC236}">
                <a16:creationId xmlns:a16="http://schemas.microsoft.com/office/drawing/2014/main" id="{72B9E70C-66CF-BD9C-75A1-09937D21A6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0261" y="1740351"/>
            <a:ext cx="10107478" cy="5705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908</Words>
  <Application>Microsoft Office PowerPoint</Application>
  <PresentationFormat>Custom</PresentationFormat>
  <Paragraphs>84</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Calibri</vt:lpstr>
      <vt:lpstr>Canva Sans Bold</vt:lpstr>
      <vt:lpstr>Canva Sans</vt:lpstr>
      <vt:lpstr>DM Sans</vt:lpstr>
      <vt:lpstr>Aptos</vt:lpstr>
      <vt:lpstr>Roca Two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Error Finder project demonstrates the potential of integrating Machine Learning with code analysis to simplify the debugging process for developers. By using an ML model to detect both common syntax errors and non-syntax issues, the system provides</dc:title>
  <dc:creator>Dharsh</dc:creator>
  <cp:lastModifiedBy>L Dharshini</cp:lastModifiedBy>
  <cp:revision>17</cp:revision>
  <dcterms:created xsi:type="dcterms:W3CDTF">2006-08-16T00:00:00Z</dcterms:created>
  <dcterms:modified xsi:type="dcterms:W3CDTF">2026-02-28T04:36:37Z</dcterms:modified>
  <dc:identifier>DAG3bTHmssk</dc:identifier>
</cp:coreProperties>
</file>